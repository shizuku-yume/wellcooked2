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4230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4594825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各位老师同学好，我们组的项目叫 WellCooked，基于《胡闹厨房2》做厨房调度。核心思路是把厨房看成一台操作系统：订单是作业，工序是任务，厨师是处理机，锅、砧板、盘子是临界资源。整个系统用 Linux 的多进程、信号、进程间通信和同步机制，自动控制游戏里的厨师完成出餐。</a:t>
            </a:r>
            <a:endParaRPr/>
          </a:p>
        </p:txBody>
      </p:sp>
      <p:sp>
        <p:nvSpPr>
          <p:cNvPr id="190353472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35916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94874839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为什么选《胡闹厨房2》？它本身就是一个调度问题。每张订单都是一条有依赖的任务链：取料、切菜、烹饪、装盘、交付。多人协作时会出现三类冲突：抢砧板是互斥，锅快烧焦是截止期和优先级，盘子用完是有限资源和生产者消费者。这和课件里急诊室的例子是一样的：锅在煮的时候厨师不该空等，要去做别的工序。</a:t>
            </a:r>
            <a:endParaRPr/>
          </a:p>
        </p:txBody>
      </p:sp>
      <p:sp>
        <p:nvSpPr>
          <p:cNvPr id="34084233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32823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55691910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这一页是整个项目的建模基础。订单对应作业，工序是 DAG 里的任务，两名厨师是两个独立的 Worker 进程。砧板用二值信号量互斥，两口锅用初值为 2 的计数信号量，盘子是有界缓冲区。等锅、等盘子就是进程阻塞。右边是我们最重要的类比：锅就像 I/O 设备，放进去就自己煮，煮好相当于中断，好的调度要让 CPU 和 I/O 重叠。</a:t>
            </a:r>
            <a:endParaRPr/>
          </a:p>
        </p:txBody>
      </p:sp>
      <p:sp>
        <p:nvSpPr>
          <p:cNvPr id="7082804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94423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1416963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系统一共五个进程。最上面是 Supervisor 守护进程，负责拉起和监控所有子进程。Scheduler 做调度决策，通过 POSIX 消息队列把任务派给两个 Chef Worker，每个 Worker 控制一名厨师。世界状态放在共享内存里，Bridge 是唯一和游戏通信的进程，通过 TCP 连接游戏内的 BepInEx 插件。这样拆分的好处是隔离：任何业务进程崩溃都不会断开游戏连接，重启后从共享内存恢复状态。</a:t>
            </a:r>
            <a:endParaRPr/>
          </a:p>
        </p:txBody>
      </p:sp>
      <p:sp>
        <p:nvSpPr>
          <p:cNvPr id="103586419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5090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98805016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守护进程严格按课件第 9 页的七步创建：fork 后父进程退出，setsid 脱离终端，清 umask，切换目录，关闭继承的文件描述符并重定向到 /dev/null，然后进入主循环。主循环里：用 fcntl 给 pid 文件加锁保证单实例；fork 加 exec 拉起子进程，每个子进程一条心跳管道；setitimer 每两秒触发 SIGALRM 巡检；子进程崩溃时收到 SIGCHLD，waitpid 收割后按退避策略重启；收到 SIGTERM 时优雅退出并清理 IPC 资源。</a:t>
            </a:r>
            <a:endParaRPr/>
          </a:p>
        </p:txBody>
      </p:sp>
      <p:sp>
        <p:nvSpPr>
          <p:cNvPr id="6296410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7326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13554495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IPC 方面我们用了六种机制，各管一段：管道做 Supervisor 和子进程的心跳；消息队列做任务派发，它自带优先级，正好对应调度优先级；共享内存放每帧的世界状态；信号量保护厨具；文件锁保证单实例和安全写日志；TCP 跨越 Linux 和游戏所在的 Windows。信号有五种：SIGCHLD 收割重启，SIGALRM 周期巡检，SIGTERM 优雅退出，SIGHUP 热切换策略，SIGUSR1 导出快照，全部用 sigaction 注册。</a:t>
            </a:r>
            <a:endParaRPr/>
          </a:p>
        </p:txBody>
      </p:sp>
      <p:sp>
        <p:nvSpPr>
          <p:cNvPr id="145126867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4805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76927345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同步互斥是把厨具当成临界资源。砧板是互斥锁；两口锅是初值为 2 的计数信号量，第三个烹饪请求会阻塞，调度器改派其他工序；盘子回收和洗盘是生产者消费者问题；世界状态 Bridge 每帧写、其他进程并发读，是读者写者问题，我们用 seqlock 实现。另外考虑两类可靠性问题：死锁，比如 A 拿锅等盘、B 拿盘等锅，用资源分配图查环后回退；持锁进程崩溃，用健壮互斥锁，下一个加锁者拿到 EOWNERDEAD 后恢复状态。</a:t>
            </a:r>
            <a:endParaRPr/>
          </a:p>
        </p:txBody>
      </p:sp>
      <p:sp>
        <p:nvSpPr>
          <p:cNvPr id="199391897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2867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70820134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调度分两级，对应作业调度和进程调度。订单级决定先做哪一单，实现 FCFS、SJF、EDF 和 HRRN 四种策略，HRRN 同时考虑等待时间和服务时间，天然防止长订单饿死。工序级是更有深度的部分：每道菜展开成一张 DAG，前驱完成且厨具空闲的工序进入就绪队列，空闲厨师取优先级最高的执行，优先推进关键路径。下面的甘特图显示：锅在煮汤的时候，厨师 0 已经去切下一单，这就是 CPU 与 I/O 重叠。</a:t>
            </a:r>
            <a:endParaRPr/>
          </a:p>
        </p:txBody>
      </p:sp>
      <p:sp>
        <p:nvSpPr>
          <p:cNvPr id="202405763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96635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1703350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这张时序图展示一张订单怎么在系统里流转。游戏插件每帧通过 TCP 上报状态，Bridge 写进共享内存；Scheduler 读到新订单，拆成工序，用消息队列把“切洋葱”派给 Worker 0。Worker 先 sem_wait 申请砧板，然后寻路，把每帧输入写到共享内存的输入槽，Bridge 汇总后发回游戏，厨师就开始切菜。切完 sem_post 释放砧板，再通过消息队列上报完成，后继工序进入就绪队列。</a:t>
            </a:r>
            <a:endParaRPr/>
          </a:p>
        </p:txBody>
      </p:sp>
      <p:sp>
        <p:nvSpPr>
          <p:cNvPr id="130972899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3284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6323657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游戏接入参考了几个开源项目：overcooked-supercharged 提供状态读取和输入注入框架，Overcooked2-TAS 提供多角色按帧接管，OvercookedAI 参考高层动作分解，oc2-modding 参考插件工程，overcooked_ai 用来快速验证算法。具体链路是：BepInEx 加载插件，Harmony 补丁读取状态、注入输入，再用 JSON 通过 TCP 连到 Linux 侧的 Bridge。我们有两个实验室环境，Fedora 加 Proton 和 WSL2 加 Windows，跑的是同一份 POSIX 代码。</a:t>
            </a:r>
            <a:endParaRPr/>
          </a:p>
        </p:txBody>
      </p:sp>
      <p:sp>
        <p:nvSpPr>
          <p:cNvPr id="211965559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62119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9098580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实验方面，我们固定地图、订单序列和动作执行器，只切换调度策略，比较得分、完成数、超时率、等待时间和利用率。左边是监控台原型，能看到订单队列、进程状态和调度事件。现场演示分五步：启动守护进程；两名厨师自动出餐；用 kill -HUP 热切换策略；用 kill -9 杀掉 Scheduler，展示守护进程通过 SIGCHLD 发现并自动重启；最后看日志和实验结果。</a:t>
            </a:r>
            <a:endParaRPr/>
          </a:p>
        </p:txBody>
      </p:sp>
      <p:sp>
        <p:nvSpPr>
          <p:cNvPr id="11911007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63326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66719380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最后是难点和计划。游戏接入靠双实验室并行互为兜底；状态一致性用 seqlock 和帧同步；死锁和持锁崩溃用资源分配图和健壮锁；故障隔离靠多进程加守护进程重启。接下来第 4、5 周集中编码，第 6 周验收。总结一句：我们用 Linux 的进程、信号、IPC 和同步机制，解决多厨师协作出餐的调度问题。谢谢大家。</a:t>
            </a:r>
            <a:endParaRPr/>
          </a:p>
        </p:txBody>
      </p:sp>
      <p:sp>
        <p:nvSpPr>
          <p:cNvPr id="42286253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82771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318716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1595915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902745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57091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8793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606993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25116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431499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574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583508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65542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64615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885712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54192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4713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745331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876584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605952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104163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86813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329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998175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960676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111113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8023635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542534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0483326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601749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5167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921675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0589234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892038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35016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8597087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822061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28449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7515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54297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0918539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791476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7843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777598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890635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909632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547672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971843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99963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6992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50554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3560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439137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32958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66839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39269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660031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501607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6722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54928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61685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52815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607786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991014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685310" name="Rectangl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67879641" name="Picture 2" descr="overcooked_gameplay.jpg"/>
          <p:cNvPicPr>
            <a:picLocks noChangeAspect="1"/>
          </p:cNvPicPr>
          <p:nvPr/>
        </p:nvPicPr>
        <p:blipFill rotWithShape="1">
          <a:blip r:embed="rId3"/>
          <a:srcRect l="23438" t="0" r="23438" b="0"/>
          <a:stretch/>
        </p:blipFill>
        <p:spPr bwMode="auto">
          <a:xfrm>
            <a:off x="5715000" y="0"/>
            <a:ext cx="6477000" cy="6858000"/>
          </a:xfrm>
          <a:prstGeom prst="rect">
            <a:avLst/>
          </a:prstGeom>
        </p:spPr>
      </p:pic>
      <p:sp>
        <p:nvSpPr>
          <p:cNvPr id="1498681478" name="Rectangle 3"/>
          <p:cNvSpPr/>
          <p:nvPr/>
        </p:nvSpPr>
        <p:spPr bwMode="auto">
          <a:xfrm>
            <a:off x="5715000" y="0"/>
            <a:ext cx="5715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627041" name="TextBox 4"/>
          <p:cNvSpPr txBox="1"/>
          <p:nvPr/>
        </p:nvSpPr>
        <p:spPr bwMode="auto">
          <a:xfrm>
            <a:off x="685800" y="1428750"/>
            <a:ext cx="476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操作系统原理课程设计 · 课堂实验设计小组汇报</a:t>
            </a:r>
            <a:endParaRPr/>
          </a:p>
        </p:txBody>
      </p:sp>
      <p:sp>
        <p:nvSpPr>
          <p:cNvPr id="1884612081" name="TextBox 5"/>
          <p:cNvSpPr txBox="1"/>
          <p:nvPr/>
        </p:nvSpPr>
        <p:spPr bwMode="auto">
          <a:xfrm>
            <a:off x="685800" y="1809750"/>
            <a:ext cx="4953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5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WellCooked</a:t>
            </a:r>
            <a:endParaRPr/>
          </a:p>
        </p:txBody>
      </p:sp>
      <p:sp>
        <p:nvSpPr>
          <p:cNvPr id="104283101" name="TextBox 6"/>
          <p:cNvSpPr txBox="1"/>
          <p:nvPr/>
        </p:nvSpPr>
        <p:spPr bwMode="auto">
          <a:xfrm>
            <a:off x="685800" y="2686050"/>
            <a:ext cx="495300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2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基于《胡闹厨房2》的厨房调度策略设计</a:t>
            </a:r>
            <a:endParaRPr/>
          </a:p>
        </p:txBody>
      </p:sp>
      <p:sp>
        <p:nvSpPr>
          <p:cNvPr id="226913717" name="TextBox 12"/>
          <p:cNvSpPr txBox="1"/>
          <p:nvPr/>
        </p:nvSpPr>
        <p:spPr bwMode="auto">
          <a:xfrm>
            <a:off x="685800" y="6191250"/>
            <a:ext cx="476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370509" name="Rectangl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2031287" name="TextBox 2"/>
          <p:cNvSpPr txBox="1"/>
          <p:nvPr/>
        </p:nvSpPr>
        <p:spPr bwMode="auto">
          <a:xfrm>
            <a:off x="571500" y="323850"/>
            <a:ext cx="6667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01 / 选题背景</a:t>
            </a:r>
            <a:endParaRPr/>
          </a:p>
        </p:txBody>
      </p:sp>
      <p:sp>
        <p:nvSpPr>
          <p:cNvPr id="2046383065" name="TextBox 3"/>
          <p:cNvSpPr txBox="1"/>
          <p:nvPr/>
        </p:nvSpPr>
        <p:spPr bwMode="auto">
          <a:xfrm>
            <a:off x="571500" y="514350"/>
            <a:ext cx="11049000" cy="4000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2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为什么《胡闹厨房2》天然是一个操作系统问题？</a:t>
            </a:r>
            <a:endParaRPr/>
          </a:p>
        </p:txBody>
      </p:sp>
      <p:sp>
        <p:nvSpPr>
          <p:cNvPr id="1493827205" name="Rectangle 4"/>
          <p:cNvSpPr/>
          <p:nvPr/>
        </p:nvSpPr>
        <p:spPr bwMode="auto"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5259196" name="TextBox 5"/>
          <p:cNvSpPr txBox="1"/>
          <p:nvPr/>
        </p:nvSpPr>
        <p:spPr bwMode="auto">
          <a:xfrm>
            <a:off x="571500" y="657225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WellCooked · 操作系统原理课程设计</a:t>
            </a:r>
            <a:endParaRPr/>
          </a:p>
        </p:txBody>
      </p:sp>
      <p:sp>
        <p:nvSpPr>
          <p:cNvPr id="1119855830" name="TextBox 6"/>
          <p:cNvSpPr txBox="1"/>
          <p:nvPr/>
        </p:nvSpPr>
        <p:spPr bwMode="auto">
          <a:xfrm>
            <a:off x="10668000" y="6572250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000" b="1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02</a:t>
            </a:r>
            <a:endParaRPr/>
          </a:p>
        </p:txBody>
      </p:sp>
      <p:pic>
        <p:nvPicPr>
          <p:cNvPr id="875475029" name="Picture 7" descr="overcooked_kitchen.jpg"/>
          <p:cNvPicPr>
            <a:picLocks noChangeAspect="1"/>
          </p:cNvPicPr>
          <p:nvPr/>
        </p:nvPicPr>
        <p:blipFill rotWithShape="1">
          <a:blip r:embed="rId3"/>
          <a:srcRect l="0" t="71" r="0" b="70"/>
          <a:stretch/>
        </p:blipFill>
        <p:spPr bwMode="auto">
          <a:xfrm>
            <a:off x="571500" y="1238250"/>
            <a:ext cx="4476750" cy="2514600"/>
          </a:xfrm>
          <a:prstGeom prst="rect">
            <a:avLst/>
          </a:prstGeom>
        </p:spPr>
      </p:pic>
      <p:sp>
        <p:nvSpPr>
          <p:cNvPr id="1144619417" name="Rectangle 8"/>
          <p:cNvSpPr/>
          <p:nvPr/>
        </p:nvSpPr>
        <p:spPr bwMode="auto">
          <a:xfrm>
            <a:off x="571500" y="3752850"/>
            <a:ext cx="4476750" cy="990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6292522" name="TextBox 9"/>
          <p:cNvSpPr txBox="1"/>
          <p:nvPr/>
        </p:nvSpPr>
        <p:spPr bwMode="auto">
          <a:xfrm>
            <a:off x="762000" y="3867150"/>
            <a:ext cx="40957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5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多人实时协作的厨房动作游戏</a:t>
            </a:r>
            <a:endParaRPr/>
          </a:p>
        </p:txBody>
      </p:sp>
      <p:sp>
        <p:nvSpPr>
          <p:cNvPr id="2014065803" name="TextBox 10"/>
          <p:cNvSpPr txBox="1"/>
          <p:nvPr/>
        </p:nvSpPr>
        <p:spPr bwMode="auto">
          <a:xfrm>
            <a:off x="762000" y="4133850"/>
            <a:ext cx="409575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defRPr/>
            </a:pPr>
            <a:r>
              <a:rPr sz="1200" b="0" i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玩家分工完成取料、切菜、烹饪、装盘与洗盘；订单限时、通道狭窄、厨具有限，混乱的根源正是“缺乏调度”。</a:t>
            </a:r>
            <a:endParaRPr/>
          </a:p>
        </p:txBody>
      </p:sp>
      <p:sp>
        <p:nvSpPr>
          <p:cNvPr id="608100457" name="Rounded Rectangle 11"/>
          <p:cNvSpPr/>
          <p:nvPr/>
        </p:nvSpPr>
        <p:spPr bwMode="auto">
          <a:xfrm>
            <a:off x="571500" y="4895850"/>
            <a:ext cx="4476750" cy="142875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3697389" name="TextBox 12"/>
          <p:cNvSpPr txBox="1"/>
          <p:nvPr/>
        </p:nvSpPr>
        <p:spPr bwMode="auto">
          <a:xfrm>
            <a:off x="762000" y="5029200"/>
            <a:ext cx="40957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4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如何高效利用厨房资源达到最大产出？</a:t>
            </a:r>
            <a:endParaRPr/>
          </a:p>
        </p:txBody>
      </p:sp>
      <p:sp>
        <p:nvSpPr>
          <p:cNvPr id="1606883298" name="TextBox 13"/>
          <p:cNvSpPr txBox="1"/>
          <p:nvPr/>
        </p:nvSpPr>
        <p:spPr bwMode="auto">
          <a:xfrm>
            <a:off x="762000" y="5295899"/>
            <a:ext cx="409575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defRPr/>
            </a:pPr>
            <a:endParaRPr/>
          </a:p>
          <a:p>
            <a:pPr algn="l">
              <a:lnSpc>
                <a:spcPct val="135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锅在煮的时候，厨师不必空等，可以去切下一道菜。</a:t>
            </a:r>
            <a:endParaRPr/>
          </a:p>
        </p:txBody>
      </p:sp>
      <p:sp>
        <p:nvSpPr>
          <p:cNvPr id="347055617" name="TextBox 14"/>
          <p:cNvSpPr txBox="1"/>
          <p:nvPr/>
        </p:nvSpPr>
        <p:spPr bwMode="auto">
          <a:xfrm>
            <a:off x="5429250" y="1219200"/>
            <a:ext cx="61912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一张订单 = 一条有前驱依赖的任务链</a:t>
            </a:r>
            <a:endParaRPr/>
          </a:p>
        </p:txBody>
      </p:sp>
      <p:sp>
        <p:nvSpPr>
          <p:cNvPr id="943262795" name="Rounded Rectangle 15"/>
          <p:cNvSpPr/>
          <p:nvPr/>
        </p:nvSpPr>
        <p:spPr bwMode="auto">
          <a:xfrm>
            <a:off x="5429250" y="1543050"/>
            <a:ext cx="106680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8286995" name="Oval 16"/>
          <p:cNvSpPr/>
          <p:nvPr/>
        </p:nvSpPr>
        <p:spPr bwMode="auto">
          <a:xfrm>
            <a:off x="5838825" y="1647825"/>
            <a:ext cx="247650" cy="2476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  <a:endParaRPr/>
          </a:p>
        </p:txBody>
      </p:sp>
      <p:sp>
        <p:nvSpPr>
          <p:cNvPr id="1830265619" name="TextBox 17"/>
          <p:cNvSpPr txBox="1"/>
          <p:nvPr/>
        </p:nvSpPr>
        <p:spPr bwMode="auto">
          <a:xfrm>
            <a:off x="5429250" y="1943100"/>
            <a:ext cx="1066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取料</a:t>
            </a:r>
            <a:endParaRPr/>
          </a:p>
        </p:txBody>
      </p:sp>
      <p:sp>
        <p:nvSpPr>
          <p:cNvPr id="603074191" name="TextBox 18"/>
          <p:cNvSpPr txBox="1"/>
          <p:nvPr/>
        </p:nvSpPr>
        <p:spPr bwMode="auto">
          <a:xfrm>
            <a:off x="5429250" y="2143125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1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输入</a:t>
            </a:r>
            <a:endParaRPr/>
          </a:p>
        </p:txBody>
      </p:sp>
      <p:cxnSp>
        <p:nvCxnSpPr>
          <p:cNvPr id="673958782" name="Connector 19"/>
          <p:cNvCxnSpPr/>
          <p:nvPr/>
        </p:nvCxnSpPr>
        <p:spPr bwMode="auto">
          <a:xfrm>
            <a:off x="6515100" y="1943100"/>
            <a:ext cx="1524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</p:cxnSp>
      <p:sp>
        <p:nvSpPr>
          <p:cNvPr id="1260278475" name="Rounded Rectangle 20"/>
          <p:cNvSpPr/>
          <p:nvPr/>
        </p:nvSpPr>
        <p:spPr bwMode="auto">
          <a:xfrm>
            <a:off x="6686550" y="1543050"/>
            <a:ext cx="106680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5580735" name="Oval 21"/>
          <p:cNvSpPr/>
          <p:nvPr/>
        </p:nvSpPr>
        <p:spPr bwMode="auto">
          <a:xfrm>
            <a:off x="7096125" y="1647825"/>
            <a:ext cx="247650" cy="2476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  <a:endParaRPr/>
          </a:p>
        </p:txBody>
      </p:sp>
      <p:sp>
        <p:nvSpPr>
          <p:cNvPr id="2025857285" name="TextBox 22"/>
          <p:cNvSpPr txBox="1"/>
          <p:nvPr/>
        </p:nvSpPr>
        <p:spPr bwMode="auto">
          <a:xfrm>
            <a:off x="6686550" y="1943100"/>
            <a:ext cx="1066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切菜</a:t>
            </a:r>
            <a:endParaRPr/>
          </a:p>
        </p:txBody>
      </p:sp>
      <p:sp>
        <p:nvSpPr>
          <p:cNvPr id="1315755580" name="TextBox 23"/>
          <p:cNvSpPr txBox="1"/>
          <p:nvPr/>
        </p:nvSpPr>
        <p:spPr bwMode="auto">
          <a:xfrm>
            <a:off x="6686550" y="2143125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100" b="1" i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CPU 计算</a:t>
            </a:r>
            <a:endParaRPr/>
          </a:p>
        </p:txBody>
      </p:sp>
      <p:cxnSp>
        <p:nvCxnSpPr>
          <p:cNvPr id="254439973" name="Connector 24"/>
          <p:cNvCxnSpPr/>
          <p:nvPr/>
        </p:nvCxnSpPr>
        <p:spPr bwMode="auto">
          <a:xfrm>
            <a:off x="7772400" y="1943100"/>
            <a:ext cx="1524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</p:cxnSp>
      <p:sp>
        <p:nvSpPr>
          <p:cNvPr id="975632782" name="Rounded Rectangle 25"/>
          <p:cNvSpPr/>
          <p:nvPr/>
        </p:nvSpPr>
        <p:spPr bwMode="auto">
          <a:xfrm>
            <a:off x="7943850" y="1543050"/>
            <a:ext cx="106680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962625" name="Oval 26"/>
          <p:cNvSpPr/>
          <p:nvPr/>
        </p:nvSpPr>
        <p:spPr bwMode="auto">
          <a:xfrm>
            <a:off x="8353425" y="1647825"/>
            <a:ext cx="247650" cy="24765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  <a:endParaRPr/>
          </a:p>
        </p:txBody>
      </p:sp>
      <p:sp>
        <p:nvSpPr>
          <p:cNvPr id="315282418" name="TextBox 27"/>
          <p:cNvSpPr txBox="1"/>
          <p:nvPr/>
        </p:nvSpPr>
        <p:spPr bwMode="auto">
          <a:xfrm>
            <a:off x="7943850" y="1943100"/>
            <a:ext cx="1066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烹饪</a:t>
            </a:r>
            <a:endParaRPr/>
          </a:p>
        </p:txBody>
      </p:sp>
      <p:sp>
        <p:nvSpPr>
          <p:cNvPr id="1252638985" name="TextBox 28"/>
          <p:cNvSpPr txBox="1"/>
          <p:nvPr/>
        </p:nvSpPr>
        <p:spPr bwMode="auto">
          <a:xfrm>
            <a:off x="7943850" y="2143125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100" b="1" i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I/O 等待</a:t>
            </a:r>
            <a:endParaRPr/>
          </a:p>
        </p:txBody>
      </p:sp>
      <p:cxnSp>
        <p:nvCxnSpPr>
          <p:cNvPr id="885000331" name="Connector 29"/>
          <p:cNvCxnSpPr/>
          <p:nvPr/>
        </p:nvCxnSpPr>
        <p:spPr bwMode="auto">
          <a:xfrm>
            <a:off x="9029700" y="1943100"/>
            <a:ext cx="1524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</p:cxnSp>
      <p:sp>
        <p:nvSpPr>
          <p:cNvPr id="1800522647" name="Rounded Rectangle 30"/>
          <p:cNvSpPr/>
          <p:nvPr/>
        </p:nvSpPr>
        <p:spPr bwMode="auto">
          <a:xfrm>
            <a:off x="9201150" y="1543050"/>
            <a:ext cx="106680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5237255" name="Oval 31"/>
          <p:cNvSpPr/>
          <p:nvPr/>
        </p:nvSpPr>
        <p:spPr bwMode="auto">
          <a:xfrm>
            <a:off x="9610725" y="1647825"/>
            <a:ext cx="247650" cy="24765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  <a:endParaRPr/>
          </a:p>
        </p:txBody>
      </p:sp>
      <p:sp>
        <p:nvSpPr>
          <p:cNvPr id="542100841" name="TextBox 32"/>
          <p:cNvSpPr txBox="1"/>
          <p:nvPr/>
        </p:nvSpPr>
        <p:spPr bwMode="auto">
          <a:xfrm>
            <a:off x="9201150" y="1943100"/>
            <a:ext cx="1066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装盘</a:t>
            </a:r>
            <a:endParaRPr/>
          </a:p>
        </p:txBody>
      </p:sp>
      <p:sp>
        <p:nvSpPr>
          <p:cNvPr id="1766559146" name="TextBox 33"/>
          <p:cNvSpPr txBox="1"/>
          <p:nvPr/>
        </p:nvSpPr>
        <p:spPr bwMode="auto">
          <a:xfrm>
            <a:off x="9201150" y="2143125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100" b="1" i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同步汇合</a:t>
            </a:r>
            <a:endParaRPr/>
          </a:p>
        </p:txBody>
      </p:sp>
      <p:cxnSp>
        <p:nvCxnSpPr>
          <p:cNvPr id="948756273" name="Connector 34"/>
          <p:cNvCxnSpPr/>
          <p:nvPr/>
        </p:nvCxnSpPr>
        <p:spPr bwMode="auto">
          <a:xfrm>
            <a:off x="10287000" y="1943100"/>
            <a:ext cx="1524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</p:cxnSp>
      <p:sp>
        <p:nvSpPr>
          <p:cNvPr id="1582378071" name="Rounded Rectangle 35"/>
          <p:cNvSpPr/>
          <p:nvPr/>
        </p:nvSpPr>
        <p:spPr bwMode="auto">
          <a:xfrm>
            <a:off x="10458450" y="1543050"/>
            <a:ext cx="106680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3135967" name="Oval 36"/>
          <p:cNvSpPr/>
          <p:nvPr/>
        </p:nvSpPr>
        <p:spPr bwMode="auto">
          <a:xfrm>
            <a:off x="10868025" y="1647825"/>
            <a:ext cx="247650" cy="2476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  <a:endParaRPr/>
          </a:p>
        </p:txBody>
      </p:sp>
      <p:sp>
        <p:nvSpPr>
          <p:cNvPr id="707124814" name="TextBox 37"/>
          <p:cNvSpPr txBox="1"/>
          <p:nvPr/>
        </p:nvSpPr>
        <p:spPr bwMode="auto">
          <a:xfrm>
            <a:off x="10458450" y="1943100"/>
            <a:ext cx="1066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交付</a:t>
            </a:r>
            <a:endParaRPr/>
          </a:p>
        </p:txBody>
      </p:sp>
      <p:sp>
        <p:nvSpPr>
          <p:cNvPr id="1152819975" name="TextBox 38"/>
          <p:cNvSpPr txBox="1"/>
          <p:nvPr/>
        </p:nvSpPr>
        <p:spPr bwMode="auto">
          <a:xfrm>
            <a:off x="10458450" y="2143125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100" b="1" i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完成事件</a:t>
            </a:r>
            <a:endParaRPr/>
          </a:p>
        </p:txBody>
      </p:sp>
      <p:sp>
        <p:nvSpPr>
          <p:cNvPr id="613068319" name="TextBox 39"/>
          <p:cNvSpPr txBox="1"/>
          <p:nvPr/>
        </p:nvSpPr>
        <p:spPr bwMode="auto">
          <a:xfrm>
            <a:off x="5429250" y="2590800"/>
            <a:ext cx="61912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多人协作反而更乱：三类典型冲突</a:t>
            </a:r>
            <a:endParaRPr/>
          </a:p>
        </p:txBody>
      </p:sp>
      <p:sp>
        <p:nvSpPr>
          <p:cNvPr id="779473407" name="Rounded Rectangle 40"/>
          <p:cNvSpPr/>
          <p:nvPr/>
        </p:nvSpPr>
        <p:spPr bwMode="auto">
          <a:xfrm>
            <a:off x="5429250" y="2914650"/>
            <a:ext cx="619125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8467496" name="Rectangle 41"/>
          <p:cNvSpPr/>
          <p:nvPr/>
        </p:nvSpPr>
        <p:spPr bwMode="auto">
          <a:xfrm>
            <a:off x="5429250" y="2914650"/>
            <a:ext cx="47625" cy="990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6475281" name="Oval 42"/>
          <p:cNvSpPr/>
          <p:nvPr/>
        </p:nvSpPr>
        <p:spPr bwMode="auto">
          <a:xfrm>
            <a:off x="5619750" y="3257550"/>
            <a:ext cx="304800" cy="304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  <a:endParaRPr/>
          </a:p>
        </p:txBody>
      </p:sp>
      <p:sp>
        <p:nvSpPr>
          <p:cNvPr id="1336679054" name="TextBox 43"/>
          <p:cNvSpPr txBox="1"/>
          <p:nvPr/>
        </p:nvSpPr>
        <p:spPr bwMode="auto">
          <a:xfrm>
            <a:off x="6076950" y="3143250"/>
            <a:ext cx="31432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两人抢同一块砧板</a:t>
            </a:r>
            <a:endParaRPr/>
          </a:p>
        </p:txBody>
      </p:sp>
      <p:sp>
        <p:nvSpPr>
          <p:cNvPr id="432413254" name="TextBox 44"/>
          <p:cNvSpPr txBox="1"/>
          <p:nvPr/>
        </p:nvSpPr>
        <p:spPr bwMode="auto">
          <a:xfrm>
            <a:off x="6076950" y="3429000"/>
            <a:ext cx="3143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都想切菜，谁先用？另一个人只能等</a:t>
            </a:r>
            <a:endParaRPr/>
          </a:p>
        </p:txBody>
      </p:sp>
      <p:sp>
        <p:nvSpPr>
          <p:cNvPr id="1000058857" name="Rounded Rectangle 45"/>
          <p:cNvSpPr/>
          <p:nvPr/>
        </p:nvSpPr>
        <p:spPr bwMode="auto">
          <a:xfrm>
            <a:off x="9429750" y="3257550"/>
            <a:ext cx="2000250" cy="3048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5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互斥 / 临界区</a:t>
            </a:r>
            <a:endParaRPr/>
          </a:p>
        </p:txBody>
      </p:sp>
      <p:sp>
        <p:nvSpPr>
          <p:cNvPr id="452478426" name="Rounded Rectangle 46"/>
          <p:cNvSpPr/>
          <p:nvPr/>
        </p:nvSpPr>
        <p:spPr bwMode="auto">
          <a:xfrm>
            <a:off x="5429250" y="4038600"/>
            <a:ext cx="619125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2108960" name="Rectangle 47"/>
          <p:cNvSpPr/>
          <p:nvPr/>
        </p:nvSpPr>
        <p:spPr bwMode="auto">
          <a:xfrm>
            <a:off x="5429250" y="4038600"/>
            <a:ext cx="47625" cy="990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8977453" name="Oval 48"/>
          <p:cNvSpPr/>
          <p:nvPr/>
        </p:nvSpPr>
        <p:spPr bwMode="auto">
          <a:xfrm>
            <a:off x="5619750" y="4381500"/>
            <a:ext cx="304800" cy="3048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  <a:endParaRPr/>
          </a:p>
        </p:txBody>
      </p:sp>
      <p:sp>
        <p:nvSpPr>
          <p:cNvPr id="160615408" name="TextBox 49"/>
          <p:cNvSpPr txBox="1"/>
          <p:nvPr/>
        </p:nvSpPr>
        <p:spPr bwMode="auto">
          <a:xfrm>
            <a:off x="6076950" y="4267200"/>
            <a:ext cx="31432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锅里的汤快烧焦了</a:t>
            </a:r>
            <a:endParaRPr/>
          </a:p>
        </p:txBody>
      </p:sp>
      <p:sp>
        <p:nvSpPr>
          <p:cNvPr id="1728257661" name="TextBox 50"/>
          <p:cNvSpPr txBox="1"/>
          <p:nvPr/>
        </p:nvSpPr>
        <p:spPr bwMode="auto">
          <a:xfrm>
            <a:off x="6076950" y="4552950"/>
            <a:ext cx="3143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厨师还在给下一单切菜，没人去关火装盘</a:t>
            </a:r>
            <a:endParaRPr/>
          </a:p>
        </p:txBody>
      </p:sp>
      <p:sp>
        <p:nvSpPr>
          <p:cNvPr id="1137485553" name="Rounded Rectangle 51"/>
          <p:cNvSpPr/>
          <p:nvPr/>
        </p:nvSpPr>
        <p:spPr bwMode="auto">
          <a:xfrm>
            <a:off x="9429750" y="4381500"/>
            <a:ext cx="2000250" cy="3048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50" b="1" i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截止期 / 优先级调度</a:t>
            </a:r>
            <a:endParaRPr/>
          </a:p>
        </p:txBody>
      </p:sp>
      <p:sp>
        <p:nvSpPr>
          <p:cNvPr id="870049308" name="Rounded Rectangle 52"/>
          <p:cNvSpPr/>
          <p:nvPr/>
        </p:nvSpPr>
        <p:spPr bwMode="auto">
          <a:xfrm>
            <a:off x="5429250" y="5162550"/>
            <a:ext cx="619125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258393" name="Rectangle 53"/>
          <p:cNvSpPr/>
          <p:nvPr/>
        </p:nvSpPr>
        <p:spPr bwMode="auto">
          <a:xfrm>
            <a:off x="5429250" y="5162550"/>
            <a:ext cx="47625" cy="990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2810221" name="Oval 54"/>
          <p:cNvSpPr/>
          <p:nvPr/>
        </p:nvSpPr>
        <p:spPr bwMode="auto">
          <a:xfrm>
            <a:off x="5619750" y="5505450"/>
            <a:ext cx="304800" cy="3048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  <a:endParaRPr/>
          </a:p>
        </p:txBody>
      </p:sp>
      <p:sp>
        <p:nvSpPr>
          <p:cNvPr id="175558231" name="TextBox 55"/>
          <p:cNvSpPr txBox="1"/>
          <p:nvPr/>
        </p:nvSpPr>
        <p:spPr bwMode="auto">
          <a:xfrm>
            <a:off x="6076950" y="5391150"/>
            <a:ext cx="31432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干净盘子用完了</a:t>
            </a:r>
            <a:endParaRPr/>
          </a:p>
        </p:txBody>
      </p:sp>
      <p:sp>
        <p:nvSpPr>
          <p:cNvPr id="1758867905" name="TextBox 56"/>
          <p:cNvSpPr txBox="1"/>
          <p:nvPr/>
        </p:nvSpPr>
        <p:spPr bwMode="auto">
          <a:xfrm>
            <a:off x="6076950" y="5676900"/>
            <a:ext cx="3143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菜已做好却无盘可装，后续全线停滞</a:t>
            </a:r>
            <a:endParaRPr/>
          </a:p>
        </p:txBody>
      </p:sp>
      <p:sp>
        <p:nvSpPr>
          <p:cNvPr id="2120526941" name="Rounded Rectangle 57"/>
          <p:cNvSpPr/>
          <p:nvPr/>
        </p:nvSpPr>
        <p:spPr bwMode="auto">
          <a:xfrm>
            <a:off x="9429750" y="5505450"/>
            <a:ext cx="2000250" cy="3048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50" b="1" i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有限资源 / 生产者消费者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793130" name="Rectangl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5193113" name="TextBox 2"/>
          <p:cNvSpPr txBox="1"/>
          <p:nvPr/>
        </p:nvSpPr>
        <p:spPr bwMode="auto">
          <a:xfrm>
            <a:off x="571500" y="323850"/>
            <a:ext cx="6667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02 / 概念建模</a:t>
            </a:r>
            <a:endParaRPr/>
          </a:p>
        </p:txBody>
      </p:sp>
      <p:sp>
        <p:nvSpPr>
          <p:cNvPr id="1219231176" name="TextBox 3"/>
          <p:cNvSpPr txBox="1"/>
          <p:nvPr/>
        </p:nvSpPr>
        <p:spPr bwMode="auto">
          <a:xfrm>
            <a:off x="571500" y="514350"/>
            <a:ext cx="11049000" cy="4000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2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建立映射：把厨房翻译成操作系统</a:t>
            </a:r>
            <a:endParaRPr/>
          </a:p>
        </p:txBody>
      </p:sp>
      <p:sp>
        <p:nvSpPr>
          <p:cNvPr id="2023749642" name="Rectangle 4"/>
          <p:cNvSpPr/>
          <p:nvPr/>
        </p:nvSpPr>
        <p:spPr bwMode="auto"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7908612" name="TextBox 5"/>
          <p:cNvSpPr txBox="1"/>
          <p:nvPr/>
        </p:nvSpPr>
        <p:spPr bwMode="auto">
          <a:xfrm>
            <a:off x="571500" y="657225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WellCooked · 操作系统原理课程设计</a:t>
            </a:r>
            <a:endParaRPr/>
          </a:p>
        </p:txBody>
      </p:sp>
      <p:sp>
        <p:nvSpPr>
          <p:cNvPr id="1125801959" name="TextBox 6"/>
          <p:cNvSpPr txBox="1"/>
          <p:nvPr/>
        </p:nvSpPr>
        <p:spPr bwMode="auto">
          <a:xfrm>
            <a:off x="10668000" y="6572250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000" b="1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03</a:t>
            </a:r>
            <a:endParaRPr/>
          </a:p>
        </p:txBody>
      </p:sp>
      <p:sp>
        <p:nvSpPr>
          <p:cNvPr id="868857965" name="Rectangle 7"/>
          <p:cNvSpPr/>
          <p:nvPr/>
        </p:nvSpPr>
        <p:spPr bwMode="auto">
          <a:xfrm>
            <a:off x="571500" y="1238250"/>
            <a:ext cx="7334250" cy="3238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1826084" name="TextBox 8"/>
          <p:cNvSpPr txBox="1"/>
          <p:nvPr/>
        </p:nvSpPr>
        <p:spPr bwMode="auto">
          <a:xfrm>
            <a:off x="685800" y="1238250"/>
            <a:ext cx="1466849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厨房实体</a:t>
            </a:r>
            <a:endParaRPr/>
          </a:p>
        </p:txBody>
      </p:sp>
      <p:sp>
        <p:nvSpPr>
          <p:cNvPr id="2104155964" name="TextBox 9"/>
          <p:cNvSpPr txBox="1"/>
          <p:nvPr/>
        </p:nvSpPr>
        <p:spPr bwMode="auto">
          <a:xfrm>
            <a:off x="2305050" y="1238250"/>
            <a:ext cx="1752599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操作系统概念</a:t>
            </a:r>
            <a:endParaRPr/>
          </a:p>
        </p:txBody>
      </p:sp>
      <p:sp>
        <p:nvSpPr>
          <p:cNvPr id="2081261563" name="TextBox 10"/>
          <p:cNvSpPr txBox="1"/>
          <p:nvPr/>
        </p:nvSpPr>
        <p:spPr bwMode="auto">
          <a:xfrm>
            <a:off x="4210050" y="1238250"/>
            <a:ext cx="365760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在系统中的体现</a:t>
            </a:r>
            <a:endParaRPr/>
          </a:p>
        </p:txBody>
      </p:sp>
      <p:sp>
        <p:nvSpPr>
          <p:cNvPr id="1850901603" name="Rectangle 11"/>
          <p:cNvSpPr/>
          <p:nvPr/>
        </p:nvSpPr>
        <p:spPr bwMode="auto">
          <a:xfrm>
            <a:off x="571500" y="1562100"/>
            <a:ext cx="733425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305190" name="Rectangle 12"/>
          <p:cNvSpPr/>
          <p:nvPr/>
        </p:nvSpPr>
        <p:spPr bwMode="auto">
          <a:xfrm>
            <a:off x="571500" y="1562100"/>
            <a:ext cx="38100" cy="609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1976386" name="TextBox 13"/>
          <p:cNvSpPr txBox="1"/>
          <p:nvPr/>
        </p:nvSpPr>
        <p:spPr bwMode="auto">
          <a:xfrm>
            <a:off x="685800" y="1562100"/>
            <a:ext cx="14478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订单</a:t>
            </a:r>
            <a:endParaRPr/>
          </a:p>
        </p:txBody>
      </p:sp>
      <p:sp>
        <p:nvSpPr>
          <p:cNvPr id="261178078" name="TextBox 14"/>
          <p:cNvSpPr txBox="1"/>
          <p:nvPr/>
        </p:nvSpPr>
        <p:spPr bwMode="auto">
          <a:xfrm>
            <a:off x="2305050" y="1562100"/>
            <a:ext cx="173355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作业 Job</a:t>
            </a:r>
            <a:endParaRPr/>
          </a:p>
        </p:txBody>
      </p:sp>
      <p:sp>
        <p:nvSpPr>
          <p:cNvPr id="1906704437" name="TextBox 15"/>
          <p:cNvSpPr txBox="1"/>
          <p:nvPr/>
        </p:nvSpPr>
        <p:spPr bwMode="auto">
          <a:xfrm>
            <a:off x="4210050" y="1562100"/>
            <a:ext cx="363855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到达时间、截止期、预计工时 → 进入订单队列</a:t>
            </a:r>
            <a:endParaRPr/>
          </a:p>
        </p:txBody>
      </p:sp>
      <p:sp>
        <p:nvSpPr>
          <p:cNvPr id="327675181" name="Rectangle 16"/>
          <p:cNvSpPr/>
          <p:nvPr/>
        </p:nvSpPr>
        <p:spPr bwMode="auto">
          <a:xfrm>
            <a:off x="571500" y="2162175"/>
            <a:ext cx="7334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2798443" name="Rectangle 17"/>
          <p:cNvSpPr/>
          <p:nvPr/>
        </p:nvSpPr>
        <p:spPr bwMode="auto">
          <a:xfrm>
            <a:off x="571500" y="2171700"/>
            <a:ext cx="7334250" cy="60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8556257" name="Rectangle 18"/>
          <p:cNvSpPr/>
          <p:nvPr/>
        </p:nvSpPr>
        <p:spPr bwMode="auto">
          <a:xfrm>
            <a:off x="571500" y="2171700"/>
            <a:ext cx="38100" cy="609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7433630" name="TextBox 19"/>
          <p:cNvSpPr txBox="1"/>
          <p:nvPr/>
        </p:nvSpPr>
        <p:spPr bwMode="auto">
          <a:xfrm>
            <a:off x="685800" y="2171700"/>
            <a:ext cx="14478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一道菜的工序</a:t>
            </a:r>
            <a:endParaRPr/>
          </a:p>
        </p:txBody>
      </p:sp>
      <p:sp>
        <p:nvSpPr>
          <p:cNvPr id="1658344948" name="TextBox 20"/>
          <p:cNvSpPr txBox="1"/>
          <p:nvPr/>
        </p:nvSpPr>
        <p:spPr bwMode="auto">
          <a:xfrm>
            <a:off x="2305050" y="2171700"/>
            <a:ext cx="173355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任务 Task</a:t>
            </a:r>
            <a:endParaRPr/>
          </a:p>
        </p:txBody>
      </p:sp>
      <p:sp>
        <p:nvSpPr>
          <p:cNvPr id="458819833" name="TextBox 21"/>
          <p:cNvSpPr txBox="1"/>
          <p:nvPr/>
        </p:nvSpPr>
        <p:spPr bwMode="auto">
          <a:xfrm>
            <a:off x="4210050" y="2171700"/>
            <a:ext cx="363855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DAG 节点，前驱完成才进入就绪队列</a:t>
            </a:r>
            <a:endParaRPr/>
          </a:p>
        </p:txBody>
      </p:sp>
      <p:sp>
        <p:nvSpPr>
          <p:cNvPr id="644760505" name="Rectangle 22"/>
          <p:cNvSpPr/>
          <p:nvPr/>
        </p:nvSpPr>
        <p:spPr bwMode="auto">
          <a:xfrm>
            <a:off x="571500" y="2771775"/>
            <a:ext cx="7334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0134502" name="Rectangle 23"/>
          <p:cNvSpPr/>
          <p:nvPr/>
        </p:nvSpPr>
        <p:spPr bwMode="auto">
          <a:xfrm>
            <a:off x="571500" y="2781300"/>
            <a:ext cx="733425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3565798" name="Rectangle 24"/>
          <p:cNvSpPr/>
          <p:nvPr/>
        </p:nvSpPr>
        <p:spPr bwMode="auto">
          <a:xfrm>
            <a:off x="571500" y="2781300"/>
            <a:ext cx="38100" cy="609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7578423" name="TextBox 25"/>
          <p:cNvSpPr txBox="1"/>
          <p:nvPr/>
        </p:nvSpPr>
        <p:spPr bwMode="auto">
          <a:xfrm>
            <a:off x="685800" y="2781300"/>
            <a:ext cx="14478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厨师 ×4</a:t>
            </a:r>
            <a:endParaRPr/>
          </a:p>
        </p:txBody>
      </p:sp>
      <p:sp>
        <p:nvSpPr>
          <p:cNvPr id="1069307843" name="TextBox 26"/>
          <p:cNvSpPr txBox="1"/>
          <p:nvPr/>
        </p:nvSpPr>
        <p:spPr bwMode="auto">
          <a:xfrm>
            <a:off x="2305050" y="2781300"/>
            <a:ext cx="173355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处理机 / Worker 进程</a:t>
            </a:r>
            <a:endParaRPr/>
          </a:p>
        </p:txBody>
      </p:sp>
      <p:sp>
        <p:nvSpPr>
          <p:cNvPr id="1094164364" name="TextBox 27"/>
          <p:cNvSpPr txBox="1"/>
          <p:nvPr/>
        </p:nvSpPr>
        <p:spPr bwMode="auto">
          <a:xfrm>
            <a:off x="4210050" y="2781300"/>
            <a:ext cx="363855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每名厨师对应一个独立进程并发执行</a:t>
            </a:r>
            <a:endParaRPr/>
          </a:p>
        </p:txBody>
      </p:sp>
      <p:sp>
        <p:nvSpPr>
          <p:cNvPr id="1441285127" name="Rectangle 28"/>
          <p:cNvSpPr/>
          <p:nvPr/>
        </p:nvSpPr>
        <p:spPr bwMode="auto">
          <a:xfrm>
            <a:off x="571500" y="3381375"/>
            <a:ext cx="7334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9800102" name="Rectangle 29"/>
          <p:cNvSpPr/>
          <p:nvPr/>
        </p:nvSpPr>
        <p:spPr bwMode="auto">
          <a:xfrm>
            <a:off x="571500" y="3390900"/>
            <a:ext cx="7334250" cy="60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4889294" name="Rectangle 30"/>
          <p:cNvSpPr/>
          <p:nvPr/>
        </p:nvSpPr>
        <p:spPr bwMode="auto">
          <a:xfrm>
            <a:off x="571500" y="3390900"/>
            <a:ext cx="38100" cy="609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5068980" name="TextBox 31"/>
          <p:cNvSpPr txBox="1"/>
          <p:nvPr/>
        </p:nvSpPr>
        <p:spPr bwMode="auto">
          <a:xfrm>
            <a:off x="685800" y="3390900"/>
            <a:ext cx="14478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砧板</a:t>
            </a:r>
            <a:endParaRPr/>
          </a:p>
        </p:txBody>
      </p:sp>
      <p:sp>
        <p:nvSpPr>
          <p:cNvPr id="1313925012" name="TextBox 32"/>
          <p:cNvSpPr txBox="1"/>
          <p:nvPr/>
        </p:nvSpPr>
        <p:spPr bwMode="auto">
          <a:xfrm>
            <a:off x="2305050" y="3390900"/>
            <a:ext cx="173355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互斥资源</a:t>
            </a:r>
            <a:endParaRPr/>
          </a:p>
        </p:txBody>
      </p:sp>
      <p:sp>
        <p:nvSpPr>
          <p:cNvPr id="223430195" name="TextBox 33"/>
          <p:cNvSpPr txBox="1"/>
          <p:nvPr/>
        </p:nvSpPr>
        <p:spPr bwMode="auto">
          <a:xfrm>
            <a:off x="4210050" y="3390900"/>
            <a:ext cx="363855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二值信号量，同一时刻只允许一人使用</a:t>
            </a:r>
            <a:endParaRPr/>
          </a:p>
        </p:txBody>
      </p:sp>
      <p:sp>
        <p:nvSpPr>
          <p:cNvPr id="261758312" name="Rectangle 34"/>
          <p:cNvSpPr/>
          <p:nvPr/>
        </p:nvSpPr>
        <p:spPr bwMode="auto">
          <a:xfrm>
            <a:off x="571500" y="3990975"/>
            <a:ext cx="7334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9572555" name="Rectangle 35"/>
          <p:cNvSpPr/>
          <p:nvPr/>
        </p:nvSpPr>
        <p:spPr bwMode="auto">
          <a:xfrm>
            <a:off x="571500" y="4000500"/>
            <a:ext cx="733425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413791" name="Rectangle 36"/>
          <p:cNvSpPr/>
          <p:nvPr/>
        </p:nvSpPr>
        <p:spPr bwMode="auto">
          <a:xfrm>
            <a:off x="571500" y="4000500"/>
            <a:ext cx="38100" cy="609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6869817" name="TextBox 37"/>
          <p:cNvSpPr txBox="1"/>
          <p:nvPr/>
        </p:nvSpPr>
        <p:spPr bwMode="auto">
          <a:xfrm>
            <a:off x="685800" y="4000500"/>
            <a:ext cx="14478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锅 ×2</a:t>
            </a:r>
            <a:endParaRPr/>
          </a:p>
        </p:txBody>
      </p:sp>
      <p:sp>
        <p:nvSpPr>
          <p:cNvPr id="450017177" name="TextBox 38"/>
          <p:cNvSpPr txBox="1"/>
          <p:nvPr/>
        </p:nvSpPr>
        <p:spPr bwMode="auto">
          <a:xfrm>
            <a:off x="2305050" y="4000500"/>
            <a:ext cx="173355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有限资源</a:t>
            </a:r>
            <a:endParaRPr/>
          </a:p>
        </p:txBody>
      </p:sp>
      <p:sp>
        <p:nvSpPr>
          <p:cNvPr id="1310154994" name="TextBox 39"/>
          <p:cNvSpPr txBox="1"/>
          <p:nvPr/>
        </p:nvSpPr>
        <p:spPr bwMode="auto">
          <a:xfrm>
            <a:off x="4210050" y="4000500"/>
            <a:ext cx="363855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计数信号量，初值为 2</a:t>
            </a:r>
            <a:endParaRPr/>
          </a:p>
        </p:txBody>
      </p:sp>
      <p:sp>
        <p:nvSpPr>
          <p:cNvPr id="217921503" name="Rectangle 40"/>
          <p:cNvSpPr/>
          <p:nvPr/>
        </p:nvSpPr>
        <p:spPr bwMode="auto">
          <a:xfrm>
            <a:off x="571500" y="4600575"/>
            <a:ext cx="7334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7372741" name="Rectangle 41"/>
          <p:cNvSpPr/>
          <p:nvPr/>
        </p:nvSpPr>
        <p:spPr bwMode="auto">
          <a:xfrm>
            <a:off x="571500" y="4610100"/>
            <a:ext cx="7334250" cy="60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8219176" name="Rectangle 42"/>
          <p:cNvSpPr/>
          <p:nvPr/>
        </p:nvSpPr>
        <p:spPr bwMode="auto">
          <a:xfrm>
            <a:off x="571500" y="4610100"/>
            <a:ext cx="38100" cy="609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2380687" name="TextBox 43"/>
          <p:cNvSpPr txBox="1"/>
          <p:nvPr/>
        </p:nvSpPr>
        <p:spPr bwMode="auto">
          <a:xfrm>
            <a:off x="685800" y="4610100"/>
            <a:ext cx="14478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盘子</a:t>
            </a:r>
            <a:endParaRPr/>
          </a:p>
        </p:txBody>
      </p:sp>
      <p:sp>
        <p:nvSpPr>
          <p:cNvPr id="445576862" name="TextBox 44"/>
          <p:cNvSpPr txBox="1"/>
          <p:nvPr/>
        </p:nvSpPr>
        <p:spPr bwMode="auto">
          <a:xfrm>
            <a:off x="2305050" y="4610100"/>
            <a:ext cx="173355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有界缓冲区</a:t>
            </a:r>
            <a:endParaRPr/>
          </a:p>
        </p:txBody>
      </p:sp>
      <p:sp>
        <p:nvSpPr>
          <p:cNvPr id="1599956253" name="TextBox 45"/>
          <p:cNvSpPr txBox="1"/>
          <p:nvPr/>
        </p:nvSpPr>
        <p:spPr bwMode="auto">
          <a:xfrm>
            <a:off x="4210050" y="4610100"/>
            <a:ext cx="363855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empty / full 信号量，生产者消费者模型</a:t>
            </a:r>
            <a:endParaRPr/>
          </a:p>
        </p:txBody>
      </p:sp>
      <p:sp>
        <p:nvSpPr>
          <p:cNvPr id="697442239" name="Rectangle 46"/>
          <p:cNvSpPr/>
          <p:nvPr/>
        </p:nvSpPr>
        <p:spPr bwMode="auto">
          <a:xfrm>
            <a:off x="571500" y="5210175"/>
            <a:ext cx="7334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9969334" name="Rectangle 47"/>
          <p:cNvSpPr/>
          <p:nvPr/>
        </p:nvSpPr>
        <p:spPr bwMode="auto">
          <a:xfrm>
            <a:off x="571500" y="5219700"/>
            <a:ext cx="733425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0380653" name="Rectangle 48"/>
          <p:cNvSpPr/>
          <p:nvPr/>
        </p:nvSpPr>
        <p:spPr bwMode="auto">
          <a:xfrm>
            <a:off x="571500" y="5219700"/>
            <a:ext cx="38100" cy="609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5137567" name="TextBox 49"/>
          <p:cNvSpPr txBox="1"/>
          <p:nvPr/>
        </p:nvSpPr>
        <p:spPr bwMode="auto">
          <a:xfrm>
            <a:off x="685800" y="5219700"/>
            <a:ext cx="14478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等锅、等空盘</a:t>
            </a:r>
            <a:endParaRPr/>
          </a:p>
        </p:txBody>
      </p:sp>
      <p:sp>
        <p:nvSpPr>
          <p:cNvPr id="34966458" name="TextBox 50"/>
          <p:cNvSpPr txBox="1"/>
          <p:nvPr/>
        </p:nvSpPr>
        <p:spPr bwMode="auto">
          <a:xfrm>
            <a:off x="2305050" y="5219700"/>
            <a:ext cx="173355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阻塞态 Blocked</a:t>
            </a:r>
            <a:endParaRPr/>
          </a:p>
        </p:txBody>
      </p:sp>
      <p:sp>
        <p:nvSpPr>
          <p:cNvPr id="1599026809" name="TextBox 51"/>
          <p:cNvSpPr txBox="1"/>
          <p:nvPr/>
        </p:nvSpPr>
        <p:spPr bwMode="auto">
          <a:xfrm>
            <a:off x="4210050" y="5219700"/>
            <a:ext cx="363855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sem_wait 挂起，资源释放后 sem_post 唤醒</a:t>
            </a:r>
            <a:endParaRPr/>
          </a:p>
        </p:txBody>
      </p:sp>
      <p:sp>
        <p:nvSpPr>
          <p:cNvPr id="1705156133" name="Rectangle 52"/>
          <p:cNvSpPr/>
          <p:nvPr/>
        </p:nvSpPr>
        <p:spPr bwMode="auto">
          <a:xfrm>
            <a:off x="571500" y="5819775"/>
            <a:ext cx="7334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1133713" name="Rounded Rectangle 53"/>
          <p:cNvSpPr/>
          <p:nvPr/>
        </p:nvSpPr>
        <p:spPr bwMode="auto">
          <a:xfrm>
            <a:off x="571500" y="5943600"/>
            <a:ext cx="733425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2150943" name="TextBox 54"/>
          <p:cNvSpPr txBox="1"/>
          <p:nvPr/>
        </p:nvSpPr>
        <p:spPr bwMode="auto">
          <a:xfrm>
            <a:off x="723900" y="5943600"/>
            <a:ext cx="70485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说明：</a:t>
            </a:r>
            <a:r>
              <a:rPr sz="12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这是应用层调度模型，不替换 Linux 内核调度器，而是用 OS 原理解决协作任务分配。</a:t>
            </a:r>
            <a:endParaRPr/>
          </a:p>
        </p:txBody>
      </p:sp>
      <p:sp>
        <p:nvSpPr>
          <p:cNvPr id="1040913827" name="Rounded Rectangle 55"/>
          <p:cNvSpPr/>
          <p:nvPr/>
        </p:nvSpPr>
        <p:spPr bwMode="auto">
          <a:xfrm>
            <a:off x="8191500" y="1238250"/>
            <a:ext cx="3429000" cy="5048250"/>
          </a:xfrm>
          <a:prstGeom prst="roundRect">
            <a:avLst>
              <a:gd name="adj" fmla="val 3888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4821823" name="TextBox 56"/>
          <p:cNvSpPr txBox="1"/>
          <p:nvPr/>
        </p:nvSpPr>
        <p:spPr bwMode="auto">
          <a:xfrm>
            <a:off x="8420100" y="1428750"/>
            <a:ext cx="3048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00" b="1" i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关键类比</a:t>
            </a:r>
            <a:endParaRPr/>
          </a:p>
        </p:txBody>
      </p:sp>
      <p:sp>
        <p:nvSpPr>
          <p:cNvPr id="1109166020" name="TextBox 57"/>
          <p:cNvSpPr txBox="1"/>
          <p:nvPr/>
        </p:nvSpPr>
        <p:spPr bwMode="auto">
          <a:xfrm>
            <a:off x="8420100" y="1657350"/>
            <a:ext cx="304800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2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锅 = I/O 设备</a:t>
            </a:r>
            <a:endParaRPr/>
          </a:p>
        </p:txBody>
      </p:sp>
      <p:sp>
        <p:nvSpPr>
          <p:cNvPr id="1692058516" name="Rounded Rectangle 58"/>
          <p:cNvSpPr/>
          <p:nvPr/>
        </p:nvSpPr>
        <p:spPr bwMode="auto">
          <a:xfrm>
            <a:off x="8420100" y="2171700"/>
            <a:ext cx="2971800" cy="552450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6181314" name="TextBox 59"/>
          <p:cNvSpPr txBox="1"/>
          <p:nvPr/>
        </p:nvSpPr>
        <p:spPr bwMode="auto">
          <a:xfrm>
            <a:off x="8572500" y="2247900"/>
            <a:ext cx="27622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FCD34D"/>
                </a:solidFill>
                <a:latin typeface="Arial"/>
                <a:ea typeface="Microsoft YaHei"/>
                <a:cs typeface="Arial"/>
              </a:rPr>
              <a:t>放入食材</a:t>
            </a:r>
            <a:endParaRPr/>
          </a:p>
        </p:txBody>
      </p:sp>
      <p:sp>
        <p:nvSpPr>
          <p:cNvPr id="751428739" name="TextBox 60"/>
          <p:cNvSpPr txBox="1"/>
          <p:nvPr/>
        </p:nvSpPr>
        <p:spPr bwMode="auto">
          <a:xfrm>
            <a:off x="8572500" y="2466975"/>
            <a:ext cx="27622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→ 发起 I/O 请求</a:t>
            </a:r>
            <a:endParaRPr/>
          </a:p>
        </p:txBody>
      </p:sp>
      <p:sp>
        <p:nvSpPr>
          <p:cNvPr id="104825067" name="Rounded Rectangle 61"/>
          <p:cNvSpPr/>
          <p:nvPr/>
        </p:nvSpPr>
        <p:spPr bwMode="auto">
          <a:xfrm>
            <a:off x="8420100" y="2838450"/>
            <a:ext cx="2971800" cy="552450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599565" name="TextBox 62"/>
          <p:cNvSpPr txBox="1"/>
          <p:nvPr/>
        </p:nvSpPr>
        <p:spPr bwMode="auto">
          <a:xfrm>
            <a:off x="8572500" y="2914650"/>
            <a:ext cx="27622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FCD34D"/>
                </a:solidFill>
                <a:latin typeface="Arial"/>
                <a:ea typeface="Microsoft YaHei"/>
                <a:cs typeface="Arial"/>
              </a:rPr>
              <a:t>锅自动加热</a:t>
            </a:r>
            <a:endParaRPr/>
          </a:p>
        </p:txBody>
      </p:sp>
      <p:sp>
        <p:nvSpPr>
          <p:cNvPr id="265058377" name="TextBox 63"/>
          <p:cNvSpPr txBox="1"/>
          <p:nvPr/>
        </p:nvSpPr>
        <p:spPr bwMode="auto">
          <a:xfrm>
            <a:off x="8572500" y="3133725"/>
            <a:ext cx="27622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→ 设备独立工作（类 DMA）</a:t>
            </a:r>
            <a:endParaRPr/>
          </a:p>
        </p:txBody>
      </p:sp>
      <p:sp>
        <p:nvSpPr>
          <p:cNvPr id="582561013" name="Rounded Rectangle 64"/>
          <p:cNvSpPr/>
          <p:nvPr/>
        </p:nvSpPr>
        <p:spPr bwMode="auto">
          <a:xfrm>
            <a:off x="8420100" y="3505199"/>
            <a:ext cx="2971800" cy="552450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3576868" name="TextBox 65"/>
          <p:cNvSpPr txBox="1"/>
          <p:nvPr/>
        </p:nvSpPr>
        <p:spPr bwMode="auto">
          <a:xfrm>
            <a:off x="8572500" y="3581400"/>
            <a:ext cx="27622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FCD34D"/>
                </a:solidFill>
                <a:latin typeface="Arial"/>
                <a:ea typeface="Microsoft YaHei"/>
                <a:cs typeface="Arial"/>
              </a:rPr>
              <a:t>烹饪完成提示</a:t>
            </a:r>
            <a:endParaRPr/>
          </a:p>
        </p:txBody>
      </p:sp>
      <p:sp>
        <p:nvSpPr>
          <p:cNvPr id="1923834188" name="TextBox 66"/>
          <p:cNvSpPr txBox="1"/>
          <p:nvPr/>
        </p:nvSpPr>
        <p:spPr bwMode="auto">
          <a:xfrm>
            <a:off x="8572500" y="3800475"/>
            <a:ext cx="27622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→ I/O 完成中断</a:t>
            </a:r>
            <a:endParaRPr/>
          </a:p>
        </p:txBody>
      </p:sp>
      <p:sp>
        <p:nvSpPr>
          <p:cNvPr id="411032371" name="Rounded Rectangle 67"/>
          <p:cNvSpPr/>
          <p:nvPr/>
        </p:nvSpPr>
        <p:spPr bwMode="auto">
          <a:xfrm>
            <a:off x="8420100" y="4171950"/>
            <a:ext cx="2971800" cy="552450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9652253" name="TextBox 68"/>
          <p:cNvSpPr txBox="1"/>
          <p:nvPr/>
        </p:nvSpPr>
        <p:spPr bwMode="auto">
          <a:xfrm>
            <a:off x="8572500" y="4248150"/>
            <a:ext cx="27622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FCD34D"/>
                </a:solidFill>
                <a:latin typeface="Arial"/>
                <a:ea typeface="Microsoft YaHei"/>
                <a:cs typeface="Arial"/>
              </a:rPr>
              <a:t>厨师去切下一道菜</a:t>
            </a:r>
            <a:endParaRPr/>
          </a:p>
        </p:txBody>
      </p:sp>
      <p:sp>
        <p:nvSpPr>
          <p:cNvPr id="571606026" name="TextBox 69"/>
          <p:cNvSpPr txBox="1"/>
          <p:nvPr/>
        </p:nvSpPr>
        <p:spPr bwMode="auto">
          <a:xfrm>
            <a:off x="8572500" y="4467225"/>
            <a:ext cx="27622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→ CPU 与 I/O 重叠</a:t>
            </a:r>
            <a:endParaRPr/>
          </a:p>
        </p:txBody>
      </p:sp>
      <p:sp>
        <p:nvSpPr>
          <p:cNvPr id="844099867" name="TextBox 70"/>
          <p:cNvSpPr txBox="1"/>
          <p:nvPr/>
        </p:nvSpPr>
        <p:spPr bwMode="auto">
          <a:xfrm>
            <a:off x="8420100" y="4914900"/>
            <a:ext cx="2971800" cy="12382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defRPr/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切菜、洗盘</a:t>
            </a:r>
            <a:r>
              <a:rPr sz="1250" b="0" i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需要厨师持续操作，相当于 CPU 密集任务；</a:t>
            </a:r>
            <a:endParaRPr/>
          </a:p>
          <a:p>
            <a:pPr algn="l">
              <a:lnSpc>
                <a:spcPct val="140000"/>
              </a:lnSpc>
              <a:defRPr/>
            </a:pPr>
            <a:r>
              <a:rPr sz="1250" b="1" i="0">
                <a:solidFill>
                  <a:srgbClr val="FCD34D"/>
                </a:solidFill>
                <a:latin typeface="Arial"/>
                <a:ea typeface="Microsoft YaHei"/>
                <a:cs typeface="Arial"/>
              </a:rPr>
              <a:t>好调度 = </a:t>
            </a:r>
            <a:r>
              <a:rPr sz="1250" b="0" i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先把锅启动起来，再让厨师去切菜，别让人空等锅。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603115" name="Rectangl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5745374" name="TextBox 2"/>
          <p:cNvSpPr txBox="1"/>
          <p:nvPr/>
        </p:nvSpPr>
        <p:spPr bwMode="auto">
          <a:xfrm>
            <a:off x="571500" y="323850"/>
            <a:ext cx="6667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03 / 系统架构</a:t>
            </a:r>
            <a:endParaRPr/>
          </a:p>
        </p:txBody>
      </p:sp>
      <p:sp>
        <p:nvSpPr>
          <p:cNvPr id="269621982" name="TextBox 3"/>
          <p:cNvSpPr txBox="1"/>
          <p:nvPr/>
        </p:nvSpPr>
        <p:spPr bwMode="auto">
          <a:xfrm>
            <a:off x="571500" y="514350"/>
            <a:ext cx="11049000" cy="4000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2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总体架构：五个进程各司其职，Linux 用户态多进程协同</a:t>
            </a:r>
            <a:endParaRPr/>
          </a:p>
        </p:txBody>
      </p:sp>
      <p:sp>
        <p:nvSpPr>
          <p:cNvPr id="1392289283" name="Rectangle 4"/>
          <p:cNvSpPr/>
          <p:nvPr/>
        </p:nvSpPr>
        <p:spPr bwMode="auto"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5462238" name="TextBox 5"/>
          <p:cNvSpPr txBox="1"/>
          <p:nvPr/>
        </p:nvSpPr>
        <p:spPr bwMode="auto">
          <a:xfrm>
            <a:off x="571500" y="657225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WellCooked · 操作系统原理课程设计</a:t>
            </a:r>
            <a:endParaRPr/>
          </a:p>
        </p:txBody>
      </p:sp>
      <p:sp>
        <p:nvSpPr>
          <p:cNvPr id="1580641244" name="TextBox 6"/>
          <p:cNvSpPr txBox="1"/>
          <p:nvPr/>
        </p:nvSpPr>
        <p:spPr bwMode="auto">
          <a:xfrm>
            <a:off x="10668000" y="6572250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000" b="1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04</a:t>
            </a:r>
            <a:endParaRPr/>
          </a:p>
        </p:txBody>
      </p:sp>
      <p:sp>
        <p:nvSpPr>
          <p:cNvPr id="937535780" name="Rounded Rectangle 7"/>
          <p:cNvSpPr/>
          <p:nvPr/>
        </p:nvSpPr>
        <p:spPr bwMode="auto">
          <a:xfrm>
            <a:off x="571500" y="1181099"/>
            <a:ext cx="7962900" cy="5200650"/>
          </a:xfrm>
          <a:prstGeom prst="roundRect">
            <a:avLst>
              <a:gd name="adj" fmla="val 2197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4408464" name="TextBox 8"/>
          <p:cNvSpPr txBox="1"/>
          <p:nvPr/>
        </p:nvSpPr>
        <p:spPr bwMode="auto">
          <a:xfrm>
            <a:off x="723900" y="1257300"/>
            <a:ext cx="38100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1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Linux· 纯 POSIX 实现</a:t>
            </a:r>
            <a:endParaRPr/>
          </a:p>
        </p:txBody>
      </p:sp>
      <p:sp>
        <p:nvSpPr>
          <p:cNvPr id="708498621" name="Rounded Rectangle 9"/>
          <p:cNvSpPr/>
          <p:nvPr/>
        </p:nvSpPr>
        <p:spPr bwMode="auto">
          <a:xfrm>
            <a:off x="762000" y="1485900"/>
            <a:ext cx="7581899" cy="609600"/>
          </a:xfrm>
          <a:prstGeom prst="roundRect">
            <a:avLst>
              <a:gd name="adj" fmla="val 15625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4061143" name="TextBox 10"/>
          <p:cNvSpPr txBox="1"/>
          <p:nvPr/>
        </p:nvSpPr>
        <p:spPr bwMode="auto">
          <a:xfrm>
            <a:off x="952500" y="1543050"/>
            <a:ext cx="28575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Supervisor 守护进程</a:t>
            </a:r>
            <a:endParaRPr/>
          </a:p>
        </p:txBody>
      </p:sp>
      <p:sp>
        <p:nvSpPr>
          <p:cNvPr id="984651692" name="TextBox 11"/>
          <p:cNvSpPr txBox="1"/>
          <p:nvPr/>
        </p:nvSpPr>
        <p:spPr bwMode="auto">
          <a:xfrm>
            <a:off x="952500" y="1809750"/>
            <a:ext cx="31432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50" b="0" i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fork + setsid 脱离终端，后台常驻</a:t>
            </a:r>
            <a:endParaRPr/>
          </a:p>
        </p:txBody>
      </p:sp>
      <p:sp>
        <p:nvSpPr>
          <p:cNvPr id="339897491" name="TextBox 12"/>
          <p:cNvSpPr txBox="1"/>
          <p:nvPr/>
        </p:nvSpPr>
        <p:spPr bwMode="auto">
          <a:xfrm>
            <a:off x="4191000" y="1562100"/>
            <a:ext cx="40005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defRPr/>
            </a:pPr>
            <a:r>
              <a:rPr sz="115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fork / exec 拉起全部子进程 · pipe 心跳</a:t>
            </a:r>
            <a:endParaRPr/>
          </a:p>
          <a:p>
            <a:pPr algn="l">
              <a:lnSpc>
                <a:spcPct val="135000"/>
              </a:lnSpc>
              <a:defRPr/>
            </a:pPr>
            <a:r>
              <a:rPr sz="115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SIGCHLD + waitpid 收割 · pid 文件 fcntl 锁</a:t>
            </a:r>
            <a:endParaRPr/>
          </a:p>
        </p:txBody>
      </p:sp>
      <p:sp>
        <p:nvSpPr>
          <p:cNvPr id="1495482893" name="Rounded Rectangle 13"/>
          <p:cNvSpPr/>
          <p:nvPr/>
        </p:nvSpPr>
        <p:spPr bwMode="auto">
          <a:xfrm>
            <a:off x="1714500" y="2514600"/>
            <a:ext cx="5676900" cy="6667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2585592" name="Rectangle 14"/>
          <p:cNvSpPr/>
          <p:nvPr/>
        </p:nvSpPr>
        <p:spPr bwMode="auto">
          <a:xfrm>
            <a:off x="1714500" y="2514600"/>
            <a:ext cx="57150" cy="6667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1507189" name="TextBox 15"/>
          <p:cNvSpPr txBox="1"/>
          <p:nvPr/>
        </p:nvSpPr>
        <p:spPr bwMode="auto">
          <a:xfrm>
            <a:off x="1924050" y="25908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Scheduler 调度进程</a:t>
            </a:r>
            <a:endParaRPr/>
          </a:p>
        </p:txBody>
      </p:sp>
      <p:sp>
        <p:nvSpPr>
          <p:cNvPr id="1982823970" name="TextBox 16"/>
          <p:cNvSpPr txBox="1"/>
          <p:nvPr/>
        </p:nvSpPr>
        <p:spPr bwMode="auto">
          <a:xfrm>
            <a:off x="1924050" y="2857500"/>
            <a:ext cx="5334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0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订单队列 · 工序 DAG · 资源分配表 · FCFS / SJF / EDF / HRRN 策略</a:t>
            </a:r>
            <a:endParaRPr/>
          </a:p>
        </p:txBody>
      </p:sp>
      <p:sp>
        <p:nvSpPr>
          <p:cNvPr id="1647738830" name="TextBox 17"/>
          <p:cNvSpPr txBox="1"/>
          <p:nvPr/>
        </p:nvSpPr>
        <p:spPr bwMode="auto">
          <a:xfrm>
            <a:off x="4953000" y="3257550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1" i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POSIX 消息队列：任务 ↓ / 事件 ↑</a:t>
            </a:r>
            <a:endParaRPr/>
          </a:p>
        </p:txBody>
      </p:sp>
      <p:sp>
        <p:nvSpPr>
          <p:cNvPr id="411275898" name="Rounded Rectangle 18"/>
          <p:cNvSpPr/>
          <p:nvPr/>
        </p:nvSpPr>
        <p:spPr bwMode="auto">
          <a:xfrm>
            <a:off x="1333500" y="3562350"/>
            <a:ext cx="29718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4051764" name="Rectangle 19"/>
          <p:cNvSpPr/>
          <p:nvPr/>
        </p:nvSpPr>
        <p:spPr bwMode="auto">
          <a:xfrm>
            <a:off x="1333500" y="3562350"/>
            <a:ext cx="57150" cy="609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8120112" name="TextBox 20"/>
          <p:cNvSpPr txBox="1"/>
          <p:nvPr/>
        </p:nvSpPr>
        <p:spPr bwMode="auto">
          <a:xfrm>
            <a:off x="1543050" y="3638550"/>
            <a:ext cx="2667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5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Chef Worker 0</a:t>
            </a:r>
            <a:endParaRPr/>
          </a:p>
        </p:txBody>
      </p:sp>
      <p:sp>
        <p:nvSpPr>
          <p:cNvPr id="586462028" name="TextBox 21"/>
          <p:cNvSpPr txBox="1"/>
          <p:nvPr/>
        </p:nvSpPr>
        <p:spPr bwMode="auto">
          <a:xfrm>
            <a:off x="1543050" y="3886200"/>
            <a:ext cx="2667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0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独立进程 · A* 寻路 · 动作执行</a:t>
            </a:r>
            <a:endParaRPr/>
          </a:p>
        </p:txBody>
      </p:sp>
      <p:sp>
        <p:nvSpPr>
          <p:cNvPr id="1945426149" name="Rounded Rectangle 22"/>
          <p:cNvSpPr/>
          <p:nvPr/>
        </p:nvSpPr>
        <p:spPr bwMode="auto">
          <a:xfrm>
            <a:off x="4800600" y="3562350"/>
            <a:ext cx="29718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3793564" name="Rectangle 23"/>
          <p:cNvSpPr/>
          <p:nvPr/>
        </p:nvSpPr>
        <p:spPr bwMode="auto">
          <a:xfrm>
            <a:off x="4800600" y="3562350"/>
            <a:ext cx="57150" cy="609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5002639" name="TextBox 24"/>
          <p:cNvSpPr txBox="1"/>
          <p:nvPr/>
        </p:nvSpPr>
        <p:spPr bwMode="auto">
          <a:xfrm>
            <a:off x="5010149" y="3638550"/>
            <a:ext cx="2667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5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Chef Worker 1</a:t>
            </a:r>
            <a:endParaRPr/>
          </a:p>
        </p:txBody>
      </p:sp>
      <p:sp>
        <p:nvSpPr>
          <p:cNvPr id="189273345" name="TextBox 25"/>
          <p:cNvSpPr txBox="1"/>
          <p:nvPr/>
        </p:nvSpPr>
        <p:spPr bwMode="auto">
          <a:xfrm>
            <a:off x="5010149" y="3886200"/>
            <a:ext cx="2667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0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独立进程 · A* 寻路 · 动作执行</a:t>
            </a:r>
            <a:endParaRPr/>
          </a:p>
        </p:txBody>
      </p:sp>
      <p:cxnSp>
        <p:nvCxnSpPr>
          <p:cNvPr id="990898511" name="Connector 26"/>
          <p:cNvCxnSpPr/>
          <p:nvPr/>
        </p:nvCxnSpPr>
        <p:spPr bwMode="auto">
          <a:xfrm flipH="1">
            <a:off x="2819400" y="3181350"/>
            <a:ext cx="800100" cy="381000"/>
          </a:xfrm>
          <a:prstGeom prst="line">
            <a:avLst/>
          </a:prstGeom>
          <a:ln w="22225">
            <a:solidFill>
              <a:srgbClr val="D97706"/>
            </a:solidFill>
            <a:headEnd type="triangle" w="med" len="med"/>
            <a:tailEnd type="triangle" w="med" len="med"/>
          </a:ln>
        </p:spPr>
      </p:cxnSp>
      <p:cxnSp>
        <p:nvCxnSpPr>
          <p:cNvPr id="152822101" name="Connector 27"/>
          <p:cNvCxnSpPr/>
          <p:nvPr/>
        </p:nvCxnSpPr>
        <p:spPr bwMode="auto">
          <a:xfrm>
            <a:off x="5486400" y="3181350"/>
            <a:ext cx="800100" cy="381000"/>
          </a:xfrm>
          <a:prstGeom prst="line">
            <a:avLst/>
          </a:prstGeom>
          <a:ln w="22225">
            <a:solidFill>
              <a:srgbClr val="D97706"/>
            </a:solidFill>
            <a:headEnd type="triangle" w="med" len="med"/>
            <a:tailEnd type="triangle" w="med" len="med"/>
          </a:ln>
        </p:spPr>
      </p:cxnSp>
      <p:sp>
        <p:nvSpPr>
          <p:cNvPr id="1027690840" name="Rounded Rectangle 28"/>
          <p:cNvSpPr/>
          <p:nvPr/>
        </p:nvSpPr>
        <p:spPr bwMode="auto">
          <a:xfrm>
            <a:off x="762000" y="4572000"/>
            <a:ext cx="7581899" cy="495300"/>
          </a:xfrm>
          <a:prstGeom prst="roundRect">
            <a:avLst>
              <a:gd name="adj" fmla="val 1923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8265987" name="TextBox 29"/>
          <p:cNvSpPr txBox="1"/>
          <p:nvPr/>
        </p:nvSpPr>
        <p:spPr bwMode="auto">
          <a:xfrm>
            <a:off x="952500" y="4572000"/>
            <a:ext cx="7239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400" b="1" i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共享内存 SHM  </a:t>
            </a: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世界状态（厨师 / 订单 / 厨具） + 每名厨师的输入槽 · seqlock + 信号量保护</a:t>
            </a:r>
            <a:endParaRPr/>
          </a:p>
        </p:txBody>
      </p:sp>
      <p:cxnSp>
        <p:nvCxnSpPr>
          <p:cNvPr id="1176257245" name="Connector 30"/>
          <p:cNvCxnSpPr/>
          <p:nvPr/>
        </p:nvCxnSpPr>
        <p:spPr bwMode="auto">
          <a:xfrm>
            <a:off x="2819400" y="4171950"/>
            <a:ext cx="0" cy="40005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</p:spPr>
      </p:cxnSp>
      <p:cxnSp>
        <p:nvCxnSpPr>
          <p:cNvPr id="39609670" name="Connector 31"/>
          <p:cNvCxnSpPr/>
          <p:nvPr/>
        </p:nvCxnSpPr>
        <p:spPr bwMode="auto">
          <a:xfrm>
            <a:off x="6286500" y="4171950"/>
            <a:ext cx="0" cy="40005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</p:spPr>
      </p:cxnSp>
      <p:sp>
        <p:nvSpPr>
          <p:cNvPr id="1995980575" name="TextBox 32"/>
          <p:cNvSpPr txBox="1"/>
          <p:nvPr/>
        </p:nvSpPr>
        <p:spPr bwMode="auto">
          <a:xfrm>
            <a:off x="2914650" y="4286250"/>
            <a:ext cx="1143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50" b="1" i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写输入槽</a:t>
            </a:r>
            <a:endParaRPr/>
          </a:p>
        </p:txBody>
      </p:sp>
      <p:sp>
        <p:nvSpPr>
          <p:cNvPr id="1063425905" name="TextBox 33"/>
          <p:cNvSpPr txBox="1"/>
          <p:nvPr/>
        </p:nvSpPr>
        <p:spPr bwMode="auto">
          <a:xfrm>
            <a:off x="6381750" y="4286250"/>
            <a:ext cx="1143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50" b="1" i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写输入槽</a:t>
            </a:r>
            <a:endParaRPr/>
          </a:p>
        </p:txBody>
      </p:sp>
      <p:cxnSp>
        <p:nvCxnSpPr>
          <p:cNvPr id="701075621" name="Connector 34"/>
          <p:cNvCxnSpPr/>
          <p:nvPr/>
        </p:nvCxnSpPr>
        <p:spPr bwMode="auto">
          <a:xfrm flipV="1">
            <a:off x="7238999" y="3152774"/>
            <a:ext cx="0" cy="1390650"/>
          </a:xfrm>
          <a:prstGeom prst="line">
            <a:avLst/>
          </a:prstGeom>
          <a:ln w="19050">
            <a:solidFill>
              <a:srgbClr val="059669"/>
            </a:solidFill>
            <a:prstDash val="dash"/>
            <a:tailEnd type="triangle" w="med" len="med"/>
          </a:ln>
        </p:spPr>
      </p:cxnSp>
      <p:sp>
        <p:nvSpPr>
          <p:cNvPr id="1110602845" name="TextBox 35"/>
          <p:cNvSpPr txBox="1"/>
          <p:nvPr/>
        </p:nvSpPr>
        <p:spPr bwMode="auto">
          <a:xfrm>
            <a:off x="7258050" y="3276599"/>
            <a:ext cx="6667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50" b="1" i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读世界</a:t>
            </a:r>
            <a:endParaRPr/>
          </a:p>
          <a:p>
            <a:pPr algn="l">
              <a:lnSpc>
                <a:spcPct val="114999"/>
              </a:lnSpc>
              <a:defRPr/>
            </a:pPr>
            <a:r>
              <a:rPr sz="1050" b="1" i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状态</a:t>
            </a:r>
            <a:endParaRPr/>
          </a:p>
        </p:txBody>
      </p:sp>
      <p:sp>
        <p:nvSpPr>
          <p:cNvPr id="1637476301" name="Rounded Rectangle 36"/>
          <p:cNvSpPr/>
          <p:nvPr/>
        </p:nvSpPr>
        <p:spPr bwMode="auto">
          <a:xfrm>
            <a:off x="1714500" y="5467350"/>
            <a:ext cx="5676900" cy="6667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8147944" name="Rectangle 37"/>
          <p:cNvSpPr/>
          <p:nvPr/>
        </p:nvSpPr>
        <p:spPr bwMode="auto">
          <a:xfrm>
            <a:off x="1714500" y="5467350"/>
            <a:ext cx="57150" cy="666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9282248" name="TextBox 38"/>
          <p:cNvSpPr txBox="1"/>
          <p:nvPr/>
        </p:nvSpPr>
        <p:spPr bwMode="auto">
          <a:xfrm>
            <a:off x="1924050" y="554355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Bridge 桥接进程</a:t>
            </a:r>
            <a:endParaRPr/>
          </a:p>
        </p:txBody>
      </p:sp>
      <p:sp>
        <p:nvSpPr>
          <p:cNvPr id="1492903668" name="TextBox 39"/>
          <p:cNvSpPr txBox="1"/>
          <p:nvPr/>
        </p:nvSpPr>
        <p:spPr bwMode="auto">
          <a:xfrm>
            <a:off x="1924050" y="5810250"/>
            <a:ext cx="5334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0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唯一连接游戏的进程 · 每帧写入世界状态、汇总输入槽 · 帧同步</a:t>
            </a:r>
            <a:endParaRPr/>
          </a:p>
        </p:txBody>
      </p:sp>
      <p:cxnSp>
        <p:nvCxnSpPr>
          <p:cNvPr id="1019884502" name="Connector 40"/>
          <p:cNvCxnSpPr/>
          <p:nvPr/>
        </p:nvCxnSpPr>
        <p:spPr bwMode="auto">
          <a:xfrm flipV="1">
            <a:off x="4552950" y="5067300"/>
            <a:ext cx="0" cy="400050"/>
          </a:xfrm>
          <a:prstGeom prst="line">
            <a:avLst/>
          </a:prstGeom>
          <a:ln w="22225">
            <a:solidFill>
              <a:srgbClr val="2563EB"/>
            </a:solidFill>
            <a:headEnd type="triangle" w="med" len="med"/>
            <a:tailEnd type="triangle" w="med" len="med"/>
          </a:ln>
        </p:spPr>
      </p:cxnSp>
      <p:cxnSp>
        <p:nvCxnSpPr>
          <p:cNvPr id="559068710" name="Connector 41"/>
          <p:cNvCxnSpPr/>
          <p:nvPr/>
        </p:nvCxnSpPr>
        <p:spPr bwMode="auto">
          <a:xfrm>
            <a:off x="2190750" y="2095500"/>
            <a:ext cx="0" cy="419100"/>
          </a:xfrm>
          <a:prstGeom prst="line">
            <a:avLst/>
          </a:prstGeom>
          <a:ln w="15875">
            <a:solidFill>
              <a:srgbClr val="7C3AED"/>
            </a:solidFill>
            <a:prstDash val="dash"/>
            <a:tailEnd type="triangle" w="med" len="med"/>
          </a:ln>
        </p:spPr>
      </p:cxnSp>
      <p:cxnSp>
        <p:nvCxnSpPr>
          <p:cNvPr id="1972934322" name="Connector 42"/>
          <p:cNvCxnSpPr/>
          <p:nvPr/>
        </p:nvCxnSpPr>
        <p:spPr bwMode="auto">
          <a:xfrm>
            <a:off x="6667500" y="2095500"/>
            <a:ext cx="0" cy="419100"/>
          </a:xfrm>
          <a:prstGeom prst="line">
            <a:avLst/>
          </a:prstGeom>
          <a:ln w="15875">
            <a:solidFill>
              <a:srgbClr val="7C3AED"/>
            </a:solidFill>
            <a:prstDash val="dash"/>
            <a:tailEnd type="triangle" w="med" len="med"/>
          </a:ln>
        </p:spPr>
      </p:cxnSp>
      <p:sp>
        <p:nvSpPr>
          <p:cNvPr id="1433060295" name="TextBox 43"/>
          <p:cNvSpPr txBox="1"/>
          <p:nvPr/>
        </p:nvSpPr>
        <p:spPr bwMode="auto">
          <a:xfrm>
            <a:off x="2286000" y="220980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50" b="1" i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拉起 + 心跳监测（所有子进程）</a:t>
            </a:r>
            <a:endParaRPr/>
          </a:p>
        </p:txBody>
      </p:sp>
      <p:sp>
        <p:nvSpPr>
          <p:cNvPr id="633146895" name="Rounded Rectangle 44"/>
          <p:cNvSpPr/>
          <p:nvPr/>
        </p:nvSpPr>
        <p:spPr bwMode="auto">
          <a:xfrm>
            <a:off x="8801100" y="1181099"/>
            <a:ext cx="2819400" cy="2857500"/>
          </a:xfrm>
          <a:prstGeom prst="roundRect">
            <a:avLst>
              <a:gd name="adj" fmla="val 4054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9737222" name="TextBox 45"/>
          <p:cNvSpPr txBox="1"/>
          <p:nvPr/>
        </p:nvSpPr>
        <p:spPr bwMode="auto">
          <a:xfrm>
            <a:off x="8991600" y="1314450"/>
            <a:ext cx="2476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1" i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Windows / Proton</a:t>
            </a:r>
            <a:endParaRPr/>
          </a:p>
        </p:txBody>
      </p:sp>
      <p:sp>
        <p:nvSpPr>
          <p:cNvPr id="1606298564" name="TextBox 46"/>
          <p:cNvSpPr txBox="1"/>
          <p:nvPr/>
        </p:nvSpPr>
        <p:spPr bwMode="auto">
          <a:xfrm>
            <a:off x="8991600" y="1524000"/>
            <a:ext cx="24765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20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Overcooked! 2</a:t>
            </a:r>
            <a:endParaRPr/>
          </a:p>
        </p:txBody>
      </p:sp>
      <p:sp>
        <p:nvSpPr>
          <p:cNvPr id="189090732" name="Rounded Rectangle 47"/>
          <p:cNvSpPr/>
          <p:nvPr/>
        </p:nvSpPr>
        <p:spPr bwMode="auto">
          <a:xfrm>
            <a:off x="8991600" y="1943100"/>
            <a:ext cx="2438400" cy="18669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8034843" name="TextBox 48"/>
          <p:cNvSpPr txBox="1"/>
          <p:nvPr/>
        </p:nvSpPr>
        <p:spPr bwMode="auto">
          <a:xfrm>
            <a:off x="9163050" y="2038349"/>
            <a:ext cx="21907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5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BepInEx 插件</a:t>
            </a:r>
            <a:endParaRPr/>
          </a:p>
        </p:txBody>
      </p:sp>
      <p:sp>
        <p:nvSpPr>
          <p:cNvPr id="1080039420" name="TextBox 49"/>
          <p:cNvSpPr txBox="1"/>
          <p:nvPr/>
        </p:nvSpPr>
        <p:spPr bwMode="auto">
          <a:xfrm>
            <a:off x="9163050" y="2324100"/>
            <a:ext cx="2152650" cy="1428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Harmony 补丁读取游戏状态</a:t>
            </a:r>
            <a:endParaRPr/>
          </a:p>
          <a:p>
            <a:pPr algn="l">
              <a:lnSpc>
                <a:spcPct val="150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多角色输入注入</a:t>
            </a:r>
            <a:endParaRPr/>
          </a:p>
          <a:p>
            <a:pPr algn="l">
              <a:lnSpc>
                <a:spcPct val="150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每帧上报 / 等待指令</a:t>
            </a:r>
            <a:endParaRPr/>
          </a:p>
          <a:p>
            <a:pPr algn="l">
              <a:lnSpc>
                <a:spcPct val="150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按 orders.json 生成订单</a:t>
            </a:r>
            <a:endParaRPr/>
          </a:p>
        </p:txBody>
      </p:sp>
      <p:cxnSp>
        <p:nvCxnSpPr>
          <p:cNvPr id="795350177" name="Connector 50"/>
          <p:cNvCxnSpPr/>
          <p:nvPr/>
        </p:nvCxnSpPr>
        <p:spPr bwMode="auto">
          <a:xfrm>
            <a:off x="7391400" y="5800725"/>
            <a:ext cx="3962400" cy="0"/>
          </a:xfrm>
          <a:prstGeom prst="line">
            <a:avLst/>
          </a:prstGeom>
          <a:ln w="25400">
            <a:solidFill>
              <a:srgbClr val="2563EB"/>
            </a:solidFill>
            <a:headEnd type="triangle" w="med" len="med"/>
            <a:tailEnd type="triangle" w="med" len="med"/>
          </a:ln>
        </p:spPr>
      </p:cxnSp>
      <p:cxnSp>
        <p:nvCxnSpPr>
          <p:cNvPr id="237532371" name="Connector 51"/>
          <p:cNvCxnSpPr/>
          <p:nvPr/>
        </p:nvCxnSpPr>
        <p:spPr bwMode="auto">
          <a:xfrm flipV="1">
            <a:off x="11353800" y="4038600"/>
            <a:ext cx="0" cy="1762125"/>
          </a:xfrm>
          <a:prstGeom prst="line">
            <a:avLst/>
          </a:prstGeom>
          <a:ln w="25400">
            <a:solidFill>
              <a:srgbClr val="2563EB"/>
            </a:solidFill>
            <a:headEnd type="triangle" w="med" len="med"/>
            <a:tailEnd type="triangle" w="med" len="med"/>
          </a:ln>
        </p:spPr>
      </p:cxnSp>
      <p:sp>
        <p:nvSpPr>
          <p:cNvPr id="1704741499" name="TextBox 52"/>
          <p:cNvSpPr txBox="1"/>
          <p:nvPr/>
        </p:nvSpPr>
        <p:spPr bwMode="auto">
          <a:xfrm>
            <a:off x="8572500" y="5524500"/>
            <a:ext cx="16192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TCP Socket · JSON</a:t>
            </a:r>
            <a:endParaRPr/>
          </a:p>
        </p:txBody>
      </p:sp>
      <p:sp>
        <p:nvSpPr>
          <p:cNvPr id="1575981872" name="Rounded Rectangle 53"/>
          <p:cNvSpPr/>
          <p:nvPr/>
        </p:nvSpPr>
        <p:spPr bwMode="auto">
          <a:xfrm>
            <a:off x="8801100" y="4229100"/>
            <a:ext cx="232410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8265307" name="TextBox 54"/>
          <p:cNvSpPr txBox="1"/>
          <p:nvPr/>
        </p:nvSpPr>
        <p:spPr bwMode="auto">
          <a:xfrm>
            <a:off x="8953500" y="4324350"/>
            <a:ext cx="2038349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defRPr/>
            </a:pPr>
            <a:r>
              <a:rPr sz="12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隔离设计：</a:t>
            </a:r>
            <a:endParaRPr/>
          </a:p>
          <a:p>
            <a:pPr algn="l">
              <a:lnSpc>
                <a:spcPct val="135000"/>
              </a:lnSpc>
              <a:defRPr/>
            </a:pPr>
            <a:r>
              <a:rPr sz="120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进程崩溃不断开游戏连接，</a:t>
            </a:r>
            <a:endParaRPr/>
          </a:p>
          <a:p>
            <a:pPr algn="l">
              <a:lnSpc>
                <a:spcPct val="135000"/>
              </a:lnSpc>
              <a:defRPr/>
            </a:pPr>
            <a:r>
              <a:rPr sz="120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重启后从共享内存恢复。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204560" name="Rectangl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5891086" name="TextBox 2"/>
          <p:cNvSpPr txBox="1"/>
          <p:nvPr/>
        </p:nvSpPr>
        <p:spPr bwMode="auto">
          <a:xfrm>
            <a:off x="571500" y="323850"/>
            <a:ext cx="6667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04 / 守护进程</a:t>
            </a:r>
            <a:endParaRPr/>
          </a:p>
        </p:txBody>
      </p:sp>
      <p:sp>
        <p:nvSpPr>
          <p:cNvPr id="1076267052" name="TextBox 3"/>
          <p:cNvSpPr txBox="1"/>
          <p:nvPr/>
        </p:nvSpPr>
        <p:spPr bwMode="auto">
          <a:xfrm>
            <a:off x="571500" y="514350"/>
            <a:ext cx="11049000" cy="4000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2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Supervisor：按课件标准流程创建，负责拉起、监控与自愈</a:t>
            </a:r>
            <a:endParaRPr/>
          </a:p>
        </p:txBody>
      </p:sp>
      <p:sp>
        <p:nvSpPr>
          <p:cNvPr id="318422453" name="Rectangle 4"/>
          <p:cNvSpPr/>
          <p:nvPr/>
        </p:nvSpPr>
        <p:spPr bwMode="auto"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7980349" name="TextBox 5"/>
          <p:cNvSpPr txBox="1"/>
          <p:nvPr/>
        </p:nvSpPr>
        <p:spPr bwMode="auto">
          <a:xfrm>
            <a:off x="571500" y="657225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WellCooked · 操作系统原理课程设计</a:t>
            </a:r>
            <a:endParaRPr/>
          </a:p>
        </p:txBody>
      </p:sp>
      <p:sp>
        <p:nvSpPr>
          <p:cNvPr id="1078380539" name="TextBox 6"/>
          <p:cNvSpPr txBox="1"/>
          <p:nvPr/>
        </p:nvSpPr>
        <p:spPr bwMode="auto">
          <a:xfrm>
            <a:off x="10668000" y="6572250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000" b="1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05</a:t>
            </a:r>
            <a:endParaRPr/>
          </a:p>
        </p:txBody>
      </p:sp>
      <p:sp>
        <p:nvSpPr>
          <p:cNvPr id="1363489835" name="Rounded Rectangle 7"/>
          <p:cNvSpPr/>
          <p:nvPr/>
        </p:nvSpPr>
        <p:spPr bwMode="auto">
          <a:xfrm>
            <a:off x="571500" y="1181099"/>
            <a:ext cx="4953000" cy="5200650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0067534" name="TextBox 8"/>
          <p:cNvSpPr txBox="1"/>
          <p:nvPr/>
        </p:nvSpPr>
        <p:spPr bwMode="auto">
          <a:xfrm>
            <a:off x="800100" y="1333500"/>
            <a:ext cx="438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① 创建流程（课件第 9 页七步）</a:t>
            </a:r>
            <a:endParaRPr/>
          </a:p>
        </p:txBody>
      </p:sp>
      <p:sp>
        <p:nvSpPr>
          <p:cNvPr id="1487447937" name="Rectangle 9"/>
          <p:cNvSpPr/>
          <p:nvPr/>
        </p:nvSpPr>
        <p:spPr bwMode="auto">
          <a:xfrm>
            <a:off x="1000125" y="2076450"/>
            <a:ext cx="19050" cy="2857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8010570" name="Oval 10"/>
          <p:cNvSpPr/>
          <p:nvPr/>
        </p:nvSpPr>
        <p:spPr bwMode="auto">
          <a:xfrm>
            <a:off x="876299" y="1771650"/>
            <a:ext cx="266700" cy="2667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  <a:endParaRPr/>
          </a:p>
        </p:txBody>
      </p:sp>
      <p:sp>
        <p:nvSpPr>
          <p:cNvPr id="927296819" name="Rounded Rectangle 11"/>
          <p:cNvSpPr/>
          <p:nvPr/>
        </p:nvSpPr>
        <p:spPr bwMode="auto">
          <a:xfrm>
            <a:off x="1257300" y="1762125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300" b="1" i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fork()</a:t>
            </a:r>
            <a:endParaRPr/>
          </a:p>
        </p:txBody>
      </p:sp>
      <p:sp>
        <p:nvSpPr>
          <p:cNvPr id="138298118" name="TextBox 12"/>
          <p:cNvSpPr txBox="1"/>
          <p:nvPr/>
        </p:nvSpPr>
        <p:spPr bwMode="auto">
          <a:xfrm>
            <a:off x="2838450" y="1762125"/>
            <a:ext cx="2495550" cy="285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父进程 exit(0)，子进程继续</a:t>
            </a:r>
            <a:endParaRPr/>
          </a:p>
        </p:txBody>
      </p:sp>
      <p:sp>
        <p:nvSpPr>
          <p:cNvPr id="583166216" name="Rectangle 13"/>
          <p:cNvSpPr/>
          <p:nvPr/>
        </p:nvSpPr>
        <p:spPr bwMode="auto">
          <a:xfrm>
            <a:off x="1000125" y="2724150"/>
            <a:ext cx="19050" cy="2857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6604393" name="Oval 14"/>
          <p:cNvSpPr/>
          <p:nvPr/>
        </p:nvSpPr>
        <p:spPr bwMode="auto">
          <a:xfrm>
            <a:off x="876299" y="2419350"/>
            <a:ext cx="266700" cy="2667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  <a:endParaRPr/>
          </a:p>
        </p:txBody>
      </p:sp>
      <p:sp>
        <p:nvSpPr>
          <p:cNvPr id="601582377" name="Rounded Rectangle 15"/>
          <p:cNvSpPr/>
          <p:nvPr/>
        </p:nvSpPr>
        <p:spPr bwMode="auto">
          <a:xfrm>
            <a:off x="1257300" y="2409825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300" b="1" i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setsid()</a:t>
            </a:r>
            <a:endParaRPr/>
          </a:p>
        </p:txBody>
      </p:sp>
      <p:sp>
        <p:nvSpPr>
          <p:cNvPr id="1877385744" name="TextBox 16"/>
          <p:cNvSpPr txBox="1"/>
          <p:nvPr/>
        </p:nvSpPr>
        <p:spPr bwMode="auto">
          <a:xfrm>
            <a:off x="2838450" y="2409825"/>
            <a:ext cx="2495550" cy="285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新建会话，脱离控制终端</a:t>
            </a:r>
            <a:endParaRPr/>
          </a:p>
        </p:txBody>
      </p:sp>
      <p:sp>
        <p:nvSpPr>
          <p:cNvPr id="1156695290" name="Rectangle 17"/>
          <p:cNvSpPr/>
          <p:nvPr/>
        </p:nvSpPr>
        <p:spPr bwMode="auto">
          <a:xfrm>
            <a:off x="1000125" y="3371850"/>
            <a:ext cx="19050" cy="2857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4861598" name="Oval 18"/>
          <p:cNvSpPr/>
          <p:nvPr/>
        </p:nvSpPr>
        <p:spPr bwMode="auto">
          <a:xfrm>
            <a:off x="876299" y="3067050"/>
            <a:ext cx="266700" cy="2667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  <a:endParaRPr/>
          </a:p>
        </p:txBody>
      </p:sp>
      <p:sp>
        <p:nvSpPr>
          <p:cNvPr id="1143614409" name="Rounded Rectangle 19"/>
          <p:cNvSpPr/>
          <p:nvPr/>
        </p:nvSpPr>
        <p:spPr bwMode="auto">
          <a:xfrm>
            <a:off x="1257300" y="3057525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300" b="1" i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umask(0)</a:t>
            </a:r>
            <a:endParaRPr/>
          </a:p>
        </p:txBody>
      </p:sp>
      <p:sp>
        <p:nvSpPr>
          <p:cNvPr id="2142898078" name="TextBox 20"/>
          <p:cNvSpPr txBox="1"/>
          <p:nvPr/>
        </p:nvSpPr>
        <p:spPr bwMode="auto">
          <a:xfrm>
            <a:off x="2838450" y="3057525"/>
            <a:ext cx="2495550" cy="285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清除文件权限掩码</a:t>
            </a:r>
            <a:endParaRPr/>
          </a:p>
        </p:txBody>
      </p:sp>
      <p:sp>
        <p:nvSpPr>
          <p:cNvPr id="1915307396" name="Rectangle 21"/>
          <p:cNvSpPr/>
          <p:nvPr/>
        </p:nvSpPr>
        <p:spPr bwMode="auto">
          <a:xfrm>
            <a:off x="1000125" y="4019550"/>
            <a:ext cx="19050" cy="2857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1625004" name="Oval 22"/>
          <p:cNvSpPr/>
          <p:nvPr/>
        </p:nvSpPr>
        <p:spPr bwMode="auto">
          <a:xfrm>
            <a:off x="876299" y="3714750"/>
            <a:ext cx="266700" cy="2667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  <a:endParaRPr/>
          </a:p>
        </p:txBody>
      </p:sp>
      <p:sp>
        <p:nvSpPr>
          <p:cNvPr id="2052614226" name="Rounded Rectangle 23"/>
          <p:cNvSpPr/>
          <p:nvPr/>
        </p:nvSpPr>
        <p:spPr bwMode="auto">
          <a:xfrm>
            <a:off x="1257300" y="3705225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300" b="1" i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chdir("/")</a:t>
            </a:r>
            <a:endParaRPr/>
          </a:p>
        </p:txBody>
      </p:sp>
      <p:sp>
        <p:nvSpPr>
          <p:cNvPr id="921040682" name="TextBox 24"/>
          <p:cNvSpPr txBox="1"/>
          <p:nvPr/>
        </p:nvSpPr>
        <p:spPr bwMode="auto">
          <a:xfrm>
            <a:off x="2838450" y="3705225"/>
            <a:ext cx="2495550" cy="285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切换工作目录</a:t>
            </a:r>
            <a:endParaRPr/>
          </a:p>
        </p:txBody>
      </p:sp>
      <p:sp>
        <p:nvSpPr>
          <p:cNvPr id="293208840" name="Rectangle 25"/>
          <p:cNvSpPr/>
          <p:nvPr/>
        </p:nvSpPr>
        <p:spPr bwMode="auto">
          <a:xfrm>
            <a:off x="1000125" y="4667250"/>
            <a:ext cx="19050" cy="2857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7878041" name="Oval 26"/>
          <p:cNvSpPr/>
          <p:nvPr/>
        </p:nvSpPr>
        <p:spPr bwMode="auto">
          <a:xfrm>
            <a:off x="876299" y="4362450"/>
            <a:ext cx="266700" cy="2667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  <a:endParaRPr/>
          </a:p>
        </p:txBody>
      </p:sp>
      <p:sp>
        <p:nvSpPr>
          <p:cNvPr id="225473563" name="Rounded Rectangle 27"/>
          <p:cNvSpPr/>
          <p:nvPr/>
        </p:nvSpPr>
        <p:spPr bwMode="auto">
          <a:xfrm>
            <a:off x="1257300" y="4352925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300" b="1" i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close(fd)</a:t>
            </a:r>
            <a:endParaRPr/>
          </a:p>
        </p:txBody>
      </p:sp>
      <p:sp>
        <p:nvSpPr>
          <p:cNvPr id="692576528" name="TextBox 28"/>
          <p:cNvSpPr txBox="1"/>
          <p:nvPr/>
        </p:nvSpPr>
        <p:spPr bwMode="auto">
          <a:xfrm>
            <a:off x="2838450" y="4352925"/>
            <a:ext cx="2495550" cy="285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关闭继承的全部文件描述符</a:t>
            </a:r>
            <a:endParaRPr/>
          </a:p>
        </p:txBody>
      </p:sp>
      <p:sp>
        <p:nvSpPr>
          <p:cNvPr id="1992316212" name="Rectangle 29"/>
          <p:cNvSpPr/>
          <p:nvPr/>
        </p:nvSpPr>
        <p:spPr bwMode="auto">
          <a:xfrm>
            <a:off x="1000125" y="5314950"/>
            <a:ext cx="19050" cy="2857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9796838" name="Oval 30"/>
          <p:cNvSpPr/>
          <p:nvPr/>
        </p:nvSpPr>
        <p:spPr bwMode="auto">
          <a:xfrm>
            <a:off x="876299" y="5010149"/>
            <a:ext cx="266700" cy="2667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</a:t>
            </a:r>
            <a:endParaRPr/>
          </a:p>
        </p:txBody>
      </p:sp>
      <p:sp>
        <p:nvSpPr>
          <p:cNvPr id="1331665899" name="Rounded Rectangle 31"/>
          <p:cNvSpPr/>
          <p:nvPr/>
        </p:nvSpPr>
        <p:spPr bwMode="auto">
          <a:xfrm>
            <a:off x="1257300" y="5000625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300" b="1" i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dup2()</a:t>
            </a:r>
            <a:endParaRPr/>
          </a:p>
        </p:txBody>
      </p:sp>
      <p:sp>
        <p:nvSpPr>
          <p:cNvPr id="958975119" name="TextBox 32"/>
          <p:cNvSpPr txBox="1"/>
          <p:nvPr/>
        </p:nvSpPr>
        <p:spPr bwMode="auto">
          <a:xfrm>
            <a:off x="2838450" y="5000625"/>
            <a:ext cx="2495550" cy="285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0/1/2 重定向到 /dev/null</a:t>
            </a:r>
            <a:endParaRPr/>
          </a:p>
        </p:txBody>
      </p:sp>
      <p:sp>
        <p:nvSpPr>
          <p:cNvPr id="1739703522" name="Oval 33"/>
          <p:cNvSpPr/>
          <p:nvPr/>
        </p:nvSpPr>
        <p:spPr bwMode="auto">
          <a:xfrm>
            <a:off x="876299" y="5657850"/>
            <a:ext cx="266700" cy="2667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</a:t>
            </a:r>
            <a:endParaRPr/>
          </a:p>
        </p:txBody>
      </p:sp>
      <p:sp>
        <p:nvSpPr>
          <p:cNvPr id="131759814" name="Rounded Rectangle 34"/>
          <p:cNvSpPr/>
          <p:nvPr/>
        </p:nvSpPr>
        <p:spPr bwMode="auto">
          <a:xfrm>
            <a:off x="1257300" y="5648325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300" b="1" i="0">
                <a:solidFill>
                  <a:srgbClr val="059669"/>
                </a:solidFill>
                <a:latin typeface="Consolas"/>
                <a:ea typeface="Microsoft YaHei"/>
                <a:cs typeface="Consolas"/>
              </a:rPr>
              <a:t>main loop</a:t>
            </a:r>
            <a:endParaRPr/>
          </a:p>
        </p:txBody>
      </p:sp>
      <p:sp>
        <p:nvSpPr>
          <p:cNvPr id="1153614377" name="TextBox 35"/>
          <p:cNvSpPr txBox="1"/>
          <p:nvPr/>
        </p:nvSpPr>
        <p:spPr bwMode="auto">
          <a:xfrm>
            <a:off x="2838450" y="5648325"/>
            <a:ext cx="2495550" cy="285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进入守护主循环</a:t>
            </a:r>
            <a:endParaRPr/>
          </a:p>
        </p:txBody>
      </p:sp>
      <p:sp>
        <p:nvSpPr>
          <p:cNvPr id="2018822372" name="TextBox 36"/>
          <p:cNvSpPr txBox="1"/>
          <p:nvPr/>
        </p:nvSpPr>
        <p:spPr bwMode="auto">
          <a:xfrm>
            <a:off x="5829300" y="1219200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② 守护职责：主循环里做什么</a:t>
            </a:r>
            <a:endParaRPr/>
          </a:p>
        </p:txBody>
      </p:sp>
      <p:sp>
        <p:nvSpPr>
          <p:cNvPr id="127125157" name="Rounded Rectangle 37"/>
          <p:cNvSpPr/>
          <p:nvPr/>
        </p:nvSpPr>
        <p:spPr bwMode="auto">
          <a:xfrm>
            <a:off x="5829300" y="1562100"/>
            <a:ext cx="28194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0873168" name="Rectangle 38"/>
          <p:cNvSpPr/>
          <p:nvPr/>
        </p:nvSpPr>
        <p:spPr bwMode="auto">
          <a:xfrm>
            <a:off x="5829300" y="1562100"/>
            <a:ext cx="2819400" cy="476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6055096" name="TextBox 39"/>
          <p:cNvSpPr txBox="1"/>
          <p:nvPr/>
        </p:nvSpPr>
        <p:spPr bwMode="auto">
          <a:xfrm>
            <a:off x="6000750" y="1733550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单实例</a:t>
            </a:r>
            <a:endParaRPr/>
          </a:p>
        </p:txBody>
      </p:sp>
      <p:sp>
        <p:nvSpPr>
          <p:cNvPr id="1412095196" name="Rounded Rectangle 40"/>
          <p:cNvSpPr/>
          <p:nvPr/>
        </p:nvSpPr>
        <p:spPr bwMode="auto">
          <a:xfrm>
            <a:off x="6000750" y="2038349"/>
            <a:ext cx="24765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</p:spPr>
        <p:txBody>
          <a:bodyPr wrap="square" lIns="95250" tIns="0" rIns="57150" bIns="0" rtlCol="0" anchor="ctr"/>
          <a:lstStyle/>
          <a:p>
            <a:pPr algn="l">
              <a:lnSpc>
                <a:spcPct val="110000"/>
              </a:lnSpc>
              <a:defRPr/>
            </a:pPr>
            <a:r>
              <a:rPr sz="1200" b="1" i="0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fcntl(F_SETLK)</a:t>
            </a:r>
            <a:endParaRPr/>
          </a:p>
        </p:txBody>
      </p:sp>
      <p:sp>
        <p:nvSpPr>
          <p:cNvPr id="228897609" name="TextBox 41"/>
          <p:cNvSpPr txBox="1"/>
          <p:nvPr/>
        </p:nvSpPr>
        <p:spPr bwMode="auto">
          <a:xfrm>
            <a:off x="6000750" y="2419350"/>
            <a:ext cx="24765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给 pid 文件加写锁，防止重复启动</a:t>
            </a:r>
            <a:endParaRPr/>
          </a:p>
        </p:txBody>
      </p:sp>
      <p:sp>
        <p:nvSpPr>
          <p:cNvPr id="265879949" name="Rounded Rectangle 42"/>
          <p:cNvSpPr/>
          <p:nvPr/>
        </p:nvSpPr>
        <p:spPr bwMode="auto">
          <a:xfrm>
            <a:off x="8763000" y="1562100"/>
            <a:ext cx="28194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0038775" name="Rectangle 43"/>
          <p:cNvSpPr/>
          <p:nvPr/>
        </p:nvSpPr>
        <p:spPr bwMode="auto">
          <a:xfrm>
            <a:off x="8763000" y="1562100"/>
            <a:ext cx="2819400" cy="4762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1810412" name="TextBox 44"/>
          <p:cNvSpPr txBox="1"/>
          <p:nvPr/>
        </p:nvSpPr>
        <p:spPr bwMode="auto">
          <a:xfrm>
            <a:off x="8934450" y="1733550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拉起子进程</a:t>
            </a:r>
            <a:endParaRPr/>
          </a:p>
        </p:txBody>
      </p:sp>
      <p:sp>
        <p:nvSpPr>
          <p:cNvPr id="228619286" name="Rounded Rectangle 45"/>
          <p:cNvSpPr/>
          <p:nvPr/>
        </p:nvSpPr>
        <p:spPr bwMode="auto">
          <a:xfrm>
            <a:off x="8934450" y="2038349"/>
            <a:ext cx="24765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</p:spPr>
        <p:txBody>
          <a:bodyPr wrap="square" lIns="95250" tIns="0" rIns="57150" bIns="0" rtlCol="0" anchor="ctr"/>
          <a:lstStyle/>
          <a:p>
            <a:pPr algn="l">
              <a:lnSpc>
                <a:spcPct val="110000"/>
              </a:lnSpc>
              <a:defRPr/>
            </a:pPr>
            <a:r>
              <a:rPr sz="1200" b="1" i="0">
                <a:solidFill>
                  <a:srgbClr val="D97706"/>
                </a:solidFill>
                <a:latin typeface="Consolas"/>
                <a:ea typeface="Microsoft YaHei"/>
                <a:cs typeface="Consolas"/>
              </a:rPr>
              <a:t>fork + exec + pipe</a:t>
            </a:r>
            <a:endParaRPr/>
          </a:p>
        </p:txBody>
      </p:sp>
      <p:sp>
        <p:nvSpPr>
          <p:cNvPr id="228321835" name="TextBox 46"/>
          <p:cNvSpPr txBox="1"/>
          <p:nvPr/>
        </p:nvSpPr>
        <p:spPr bwMode="auto">
          <a:xfrm>
            <a:off x="8934450" y="2419350"/>
            <a:ext cx="24765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启动 Scheduler / Worker / Bridge，每个子进程一条管道</a:t>
            </a:r>
            <a:endParaRPr/>
          </a:p>
        </p:txBody>
      </p:sp>
      <p:sp>
        <p:nvSpPr>
          <p:cNvPr id="1490784045" name="Rounded Rectangle 47"/>
          <p:cNvSpPr/>
          <p:nvPr/>
        </p:nvSpPr>
        <p:spPr bwMode="auto">
          <a:xfrm>
            <a:off x="5829300" y="3181350"/>
            <a:ext cx="28194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5906894" name="Rectangle 48"/>
          <p:cNvSpPr/>
          <p:nvPr/>
        </p:nvSpPr>
        <p:spPr bwMode="auto">
          <a:xfrm>
            <a:off x="5829300" y="3181350"/>
            <a:ext cx="2819400" cy="476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6390562" name="TextBox 49"/>
          <p:cNvSpPr txBox="1"/>
          <p:nvPr/>
        </p:nvSpPr>
        <p:spPr bwMode="auto">
          <a:xfrm>
            <a:off x="6000750" y="3352800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心跳检测</a:t>
            </a:r>
            <a:endParaRPr/>
          </a:p>
        </p:txBody>
      </p:sp>
      <p:sp>
        <p:nvSpPr>
          <p:cNvPr id="394789573" name="Rounded Rectangle 50"/>
          <p:cNvSpPr/>
          <p:nvPr/>
        </p:nvSpPr>
        <p:spPr bwMode="auto">
          <a:xfrm>
            <a:off x="6000750" y="3657600"/>
            <a:ext cx="24765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</p:spPr>
        <p:txBody>
          <a:bodyPr wrap="square" lIns="95250" tIns="0" rIns="57150" bIns="0" rtlCol="0" anchor="ctr"/>
          <a:lstStyle/>
          <a:p>
            <a:pPr algn="l">
              <a:lnSpc>
                <a:spcPct val="110000"/>
              </a:lnSpc>
              <a:defRPr/>
            </a:pPr>
            <a:r>
              <a:rPr sz="1200" b="1" i="0">
                <a:solidFill>
                  <a:srgbClr val="059669"/>
                </a:solidFill>
                <a:latin typeface="Consolas"/>
                <a:ea typeface="Microsoft YaHei"/>
                <a:cs typeface="Consolas"/>
              </a:rPr>
              <a:t>write / poll</a:t>
            </a:r>
            <a:endParaRPr/>
          </a:p>
        </p:txBody>
      </p:sp>
      <p:sp>
        <p:nvSpPr>
          <p:cNvPr id="498826181" name="TextBox 51"/>
          <p:cNvSpPr txBox="1"/>
          <p:nvPr/>
        </p:nvSpPr>
        <p:spPr bwMode="auto">
          <a:xfrm>
            <a:off x="6000750" y="4038600"/>
            <a:ext cx="24765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子进程周期写心跳，poll 超时即判定无响应</a:t>
            </a:r>
            <a:endParaRPr/>
          </a:p>
        </p:txBody>
      </p:sp>
      <p:sp>
        <p:nvSpPr>
          <p:cNvPr id="230955277" name="Rounded Rectangle 52"/>
          <p:cNvSpPr/>
          <p:nvPr/>
        </p:nvSpPr>
        <p:spPr bwMode="auto">
          <a:xfrm>
            <a:off x="8763000" y="3181350"/>
            <a:ext cx="28194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0814561" name="Rectangle 53"/>
          <p:cNvSpPr/>
          <p:nvPr/>
        </p:nvSpPr>
        <p:spPr bwMode="auto">
          <a:xfrm>
            <a:off x="8763000" y="3181350"/>
            <a:ext cx="2819400" cy="4762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2883282" name="TextBox 54"/>
          <p:cNvSpPr txBox="1"/>
          <p:nvPr/>
        </p:nvSpPr>
        <p:spPr bwMode="auto">
          <a:xfrm>
            <a:off x="8934450" y="3352800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周期巡检</a:t>
            </a:r>
            <a:endParaRPr/>
          </a:p>
        </p:txBody>
      </p:sp>
      <p:sp>
        <p:nvSpPr>
          <p:cNvPr id="1531372695" name="Rounded Rectangle 55"/>
          <p:cNvSpPr/>
          <p:nvPr/>
        </p:nvSpPr>
        <p:spPr bwMode="auto">
          <a:xfrm>
            <a:off x="8934450" y="3657600"/>
            <a:ext cx="24765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</p:spPr>
        <p:txBody>
          <a:bodyPr wrap="square" lIns="95250" tIns="0" rIns="57150" bIns="0" rtlCol="0" anchor="ctr"/>
          <a:lstStyle/>
          <a:p>
            <a:pPr algn="l">
              <a:lnSpc>
                <a:spcPct val="110000"/>
              </a:lnSpc>
              <a:defRPr/>
            </a:pPr>
            <a:r>
              <a:rPr sz="1200" b="1" i="0">
                <a:solidFill>
                  <a:srgbClr val="0891B2"/>
                </a:solidFill>
                <a:latin typeface="Consolas"/>
                <a:ea typeface="Microsoft YaHei"/>
                <a:cs typeface="Consolas"/>
              </a:rPr>
              <a:t>setitimer + SIGALRM</a:t>
            </a:r>
            <a:endParaRPr/>
          </a:p>
        </p:txBody>
      </p:sp>
      <p:sp>
        <p:nvSpPr>
          <p:cNvPr id="1836552999" name="TextBox 56"/>
          <p:cNvSpPr txBox="1"/>
          <p:nvPr/>
        </p:nvSpPr>
        <p:spPr bwMode="auto">
          <a:xfrm>
            <a:off x="8934450" y="4038600"/>
            <a:ext cx="24765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每 2 秒触发一次健康检查（同课件示例）</a:t>
            </a:r>
            <a:endParaRPr/>
          </a:p>
        </p:txBody>
      </p:sp>
      <p:sp>
        <p:nvSpPr>
          <p:cNvPr id="1617685228" name="Rounded Rectangle 57"/>
          <p:cNvSpPr/>
          <p:nvPr/>
        </p:nvSpPr>
        <p:spPr bwMode="auto">
          <a:xfrm>
            <a:off x="5829300" y="4800600"/>
            <a:ext cx="28194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7253965" name="Rectangle 58"/>
          <p:cNvSpPr/>
          <p:nvPr/>
        </p:nvSpPr>
        <p:spPr bwMode="auto">
          <a:xfrm>
            <a:off x="5829300" y="4800600"/>
            <a:ext cx="2819400" cy="476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0091667" name="TextBox 59"/>
          <p:cNvSpPr txBox="1"/>
          <p:nvPr/>
        </p:nvSpPr>
        <p:spPr bwMode="auto">
          <a:xfrm>
            <a:off x="6000750" y="4972050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崩溃自愈</a:t>
            </a:r>
            <a:endParaRPr/>
          </a:p>
        </p:txBody>
      </p:sp>
      <p:sp>
        <p:nvSpPr>
          <p:cNvPr id="1606587893" name="Rounded Rectangle 60"/>
          <p:cNvSpPr/>
          <p:nvPr/>
        </p:nvSpPr>
        <p:spPr bwMode="auto">
          <a:xfrm>
            <a:off x="6000750" y="5276850"/>
            <a:ext cx="24765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</p:spPr>
        <p:txBody>
          <a:bodyPr wrap="square" lIns="95250" tIns="0" rIns="57150" bIns="0" rtlCol="0" anchor="ctr"/>
          <a:lstStyle/>
          <a:p>
            <a:pPr algn="l">
              <a:lnSpc>
                <a:spcPct val="110000"/>
              </a:lnSpc>
              <a:defRPr/>
            </a:pPr>
            <a:r>
              <a:rPr sz="1200" b="1" i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SIGCHLD + waitpid</a:t>
            </a:r>
            <a:endParaRPr/>
          </a:p>
        </p:txBody>
      </p:sp>
      <p:sp>
        <p:nvSpPr>
          <p:cNvPr id="540874956" name="TextBox 61"/>
          <p:cNvSpPr txBox="1"/>
          <p:nvPr/>
        </p:nvSpPr>
        <p:spPr bwMode="auto">
          <a:xfrm>
            <a:off x="6000750" y="5657850"/>
            <a:ext cx="24765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收割僵尸进程，按退避策略重启：立即 → 2s → 10s</a:t>
            </a:r>
            <a:endParaRPr/>
          </a:p>
        </p:txBody>
      </p:sp>
      <p:sp>
        <p:nvSpPr>
          <p:cNvPr id="2016799664" name="Rounded Rectangle 62"/>
          <p:cNvSpPr/>
          <p:nvPr/>
        </p:nvSpPr>
        <p:spPr bwMode="auto">
          <a:xfrm>
            <a:off x="8763000" y="4800600"/>
            <a:ext cx="28194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2319106" name="Rectangle 63"/>
          <p:cNvSpPr/>
          <p:nvPr/>
        </p:nvSpPr>
        <p:spPr bwMode="auto">
          <a:xfrm>
            <a:off x="8763000" y="4800600"/>
            <a:ext cx="2819400" cy="4762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6574308" name="TextBox 64"/>
          <p:cNvSpPr txBox="1"/>
          <p:nvPr/>
        </p:nvSpPr>
        <p:spPr bwMode="auto">
          <a:xfrm>
            <a:off x="8934450" y="4972050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优雅退出</a:t>
            </a:r>
            <a:endParaRPr/>
          </a:p>
        </p:txBody>
      </p:sp>
      <p:sp>
        <p:nvSpPr>
          <p:cNvPr id="1794881899" name="Rounded Rectangle 65"/>
          <p:cNvSpPr/>
          <p:nvPr/>
        </p:nvSpPr>
        <p:spPr bwMode="auto">
          <a:xfrm>
            <a:off x="8934450" y="5276850"/>
            <a:ext cx="24765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</p:spPr>
        <p:txBody>
          <a:bodyPr wrap="square" lIns="95250" tIns="0" rIns="57150" bIns="0" rtlCol="0" anchor="ctr"/>
          <a:lstStyle/>
          <a:p>
            <a:pPr algn="l">
              <a:lnSpc>
                <a:spcPct val="110000"/>
              </a:lnSpc>
              <a:defRPr/>
            </a:pPr>
            <a:r>
              <a:rPr sz="1200" b="1" i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SIGTERM</a:t>
            </a:r>
            <a:endParaRPr/>
          </a:p>
        </p:txBody>
      </p:sp>
      <p:sp>
        <p:nvSpPr>
          <p:cNvPr id="38888889" name="TextBox 66"/>
          <p:cNvSpPr txBox="1"/>
          <p:nvPr/>
        </p:nvSpPr>
        <p:spPr bwMode="auto">
          <a:xfrm>
            <a:off x="8934450" y="5657850"/>
            <a:ext cx="24765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通知子进程退出，清理 SHM / 消息队列 / 信号量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874157" name="Rectangl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0853954" name="TextBox 2"/>
          <p:cNvSpPr txBox="1"/>
          <p:nvPr/>
        </p:nvSpPr>
        <p:spPr bwMode="auto">
          <a:xfrm>
            <a:off x="571500" y="323850"/>
            <a:ext cx="6667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05 / 进程通信与信号</a:t>
            </a:r>
            <a:endParaRPr/>
          </a:p>
        </p:txBody>
      </p:sp>
      <p:sp>
        <p:nvSpPr>
          <p:cNvPr id="1203328472" name="TextBox 3"/>
          <p:cNvSpPr txBox="1"/>
          <p:nvPr/>
        </p:nvSpPr>
        <p:spPr bwMode="auto">
          <a:xfrm>
            <a:off x="571500" y="514350"/>
            <a:ext cx="11049000" cy="4000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2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六种 IPC 各管一段数据流，五种信号驱动进程控制</a:t>
            </a:r>
            <a:endParaRPr/>
          </a:p>
        </p:txBody>
      </p:sp>
      <p:sp>
        <p:nvSpPr>
          <p:cNvPr id="302697842" name="Rectangle 4"/>
          <p:cNvSpPr/>
          <p:nvPr/>
        </p:nvSpPr>
        <p:spPr bwMode="auto"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1126253" name="TextBox 5"/>
          <p:cNvSpPr txBox="1"/>
          <p:nvPr/>
        </p:nvSpPr>
        <p:spPr bwMode="auto">
          <a:xfrm>
            <a:off x="571500" y="657225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WellCooked · 操作系统原理课程设计</a:t>
            </a:r>
            <a:endParaRPr/>
          </a:p>
        </p:txBody>
      </p:sp>
      <p:sp>
        <p:nvSpPr>
          <p:cNvPr id="2113766771" name="TextBox 6"/>
          <p:cNvSpPr txBox="1"/>
          <p:nvPr/>
        </p:nvSpPr>
        <p:spPr bwMode="auto">
          <a:xfrm>
            <a:off x="10668000" y="6572250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000" b="1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06</a:t>
            </a:r>
            <a:endParaRPr/>
          </a:p>
        </p:txBody>
      </p:sp>
      <p:sp>
        <p:nvSpPr>
          <p:cNvPr id="382830662" name="Rectangle 7"/>
          <p:cNvSpPr/>
          <p:nvPr/>
        </p:nvSpPr>
        <p:spPr bwMode="auto">
          <a:xfrm>
            <a:off x="571500" y="1181099"/>
            <a:ext cx="7524750" cy="3238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2051554" name="TextBox 8"/>
          <p:cNvSpPr txBox="1"/>
          <p:nvPr/>
        </p:nvSpPr>
        <p:spPr bwMode="auto">
          <a:xfrm>
            <a:off x="685800" y="1181099"/>
            <a:ext cx="97155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IPC 机制</a:t>
            </a:r>
            <a:endParaRPr/>
          </a:p>
        </p:txBody>
      </p:sp>
      <p:sp>
        <p:nvSpPr>
          <p:cNvPr id="297101495" name="TextBox 9"/>
          <p:cNvSpPr txBox="1"/>
          <p:nvPr/>
        </p:nvSpPr>
        <p:spPr bwMode="auto">
          <a:xfrm>
            <a:off x="1809750" y="1181099"/>
            <a:ext cx="171450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关键调用</a:t>
            </a:r>
            <a:endParaRPr/>
          </a:p>
        </p:txBody>
      </p:sp>
      <p:sp>
        <p:nvSpPr>
          <p:cNvPr id="234626139" name="TextBox 10"/>
          <p:cNvSpPr txBox="1"/>
          <p:nvPr/>
        </p:nvSpPr>
        <p:spPr bwMode="auto">
          <a:xfrm>
            <a:off x="3676650" y="1181099"/>
            <a:ext cx="188595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通信双方</a:t>
            </a:r>
            <a:endParaRPr/>
          </a:p>
        </p:txBody>
      </p:sp>
      <p:sp>
        <p:nvSpPr>
          <p:cNvPr id="479540414" name="TextBox 11"/>
          <p:cNvSpPr txBox="1"/>
          <p:nvPr/>
        </p:nvSpPr>
        <p:spPr bwMode="auto">
          <a:xfrm>
            <a:off x="5715000" y="1181099"/>
            <a:ext cx="234315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选用理由</a:t>
            </a:r>
            <a:endParaRPr/>
          </a:p>
        </p:txBody>
      </p:sp>
      <p:sp>
        <p:nvSpPr>
          <p:cNvPr id="1400946035" name="Rectangle 12"/>
          <p:cNvSpPr/>
          <p:nvPr/>
        </p:nvSpPr>
        <p:spPr bwMode="auto">
          <a:xfrm>
            <a:off x="571500" y="1504950"/>
            <a:ext cx="7524750" cy="590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3515191" name="Rectangle 13"/>
          <p:cNvSpPr/>
          <p:nvPr/>
        </p:nvSpPr>
        <p:spPr bwMode="auto">
          <a:xfrm>
            <a:off x="571500" y="1504950"/>
            <a:ext cx="38100" cy="59054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1990726" name="TextBox 14"/>
          <p:cNvSpPr txBox="1"/>
          <p:nvPr/>
        </p:nvSpPr>
        <p:spPr bwMode="auto">
          <a:xfrm>
            <a:off x="685800" y="1504950"/>
            <a:ext cx="9525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管道 Pipe</a:t>
            </a:r>
            <a:endParaRPr/>
          </a:p>
        </p:txBody>
      </p:sp>
      <p:sp>
        <p:nvSpPr>
          <p:cNvPr id="18145759" name="TextBox 15"/>
          <p:cNvSpPr txBox="1"/>
          <p:nvPr/>
        </p:nvSpPr>
        <p:spPr bwMode="auto">
          <a:xfrm>
            <a:off x="1809750" y="1504950"/>
            <a:ext cx="169545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150" b="0" i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pipe / poll</a:t>
            </a:r>
            <a:endParaRPr/>
          </a:p>
        </p:txBody>
      </p:sp>
      <p:sp>
        <p:nvSpPr>
          <p:cNvPr id="976959047" name="TextBox 16"/>
          <p:cNvSpPr txBox="1"/>
          <p:nvPr/>
        </p:nvSpPr>
        <p:spPr bwMode="auto">
          <a:xfrm>
            <a:off x="3676650" y="1504950"/>
            <a:ext cx="18669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Supervisor ↔ 子进程</a:t>
            </a:r>
            <a:endParaRPr/>
          </a:p>
        </p:txBody>
      </p:sp>
      <p:sp>
        <p:nvSpPr>
          <p:cNvPr id="1409047853" name="TextBox 17"/>
          <p:cNvSpPr txBox="1"/>
          <p:nvPr/>
        </p:nvSpPr>
        <p:spPr bwMode="auto">
          <a:xfrm>
            <a:off x="5715000" y="1504950"/>
            <a:ext cx="23241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父子进程天然共享，心跳最轻量</a:t>
            </a:r>
            <a:endParaRPr/>
          </a:p>
        </p:txBody>
      </p:sp>
      <p:sp>
        <p:nvSpPr>
          <p:cNvPr id="612619355" name="Rectangle 18"/>
          <p:cNvSpPr/>
          <p:nvPr/>
        </p:nvSpPr>
        <p:spPr bwMode="auto">
          <a:xfrm>
            <a:off x="571500" y="2085975"/>
            <a:ext cx="7524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3087774" name="Rectangle 19"/>
          <p:cNvSpPr/>
          <p:nvPr/>
        </p:nvSpPr>
        <p:spPr bwMode="auto">
          <a:xfrm>
            <a:off x="571500" y="2095500"/>
            <a:ext cx="7524750" cy="59054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9323574" name="Rectangle 20"/>
          <p:cNvSpPr/>
          <p:nvPr/>
        </p:nvSpPr>
        <p:spPr bwMode="auto">
          <a:xfrm>
            <a:off x="571500" y="2095500"/>
            <a:ext cx="38100" cy="59054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6068448" name="TextBox 21"/>
          <p:cNvSpPr txBox="1"/>
          <p:nvPr/>
        </p:nvSpPr>
        <p:spPr bwMode="auto">
          <a:xfrm>
            <a:off x="685800" y="2095500"/>
            <a:ext cx="9525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消息队列</a:t>
            </a:r>
            <a:endParaRPr/>
          </a:p>
        </p:txBody>
      </p:sp>
      <p:sp>
        <p:nvSpPr>
          <p:cNvPr id="1481641381" name="TextBox 22"/>
          <p:cNvSpPr txBox="1"/>
          <p:nvPr/>
        </p:nvSpPr>
        <p:spPr bwMode="auto">
          <a:xfrm>
            <a:off x="1809750" y="2095500"/>
            <a:ext cx="169545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150" b="0" i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mq_send / mq_receive</a:t>
            </a:r>
            <a:endParaRPr/>
          </a:p>
        </p:txBody>
      </p:sp>
      <p:sp>
        <p:nvSpPr>
          <p:cNvPr id="170158519" name="TextBox 23"/>
          <p:cNvSpPr txBox="1"/>
          <p:nvPr/>
        </p:nvSpPr>
        <p:spPr bwMode="auto">
          <a:xfrm>
            <a:off x="3676650" y="2095500"/>
            <a:ext cx="18669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Scheduler ↔ Worker</a:t>
            </a:r>
            <a:endParaRPr/>
          </a:p>
        </p:txBody>
      </p:sp>
      <p:sp>
        <p:nvSpPr>
          <p:cNvPr id="2090003112" name="TextBox 24"/>
          <p:cNvSpPr txBox="1"/>
          <p:nvPr/>
        </p:nvSpPr>
        <p:spPr bwMode="auto">
          <a:xfrm>
            <a:off x="5715000" y="2095500"/>
            <a:ext cx="23241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自带优先级，直接映射调度优先级</a:t>
            </a:r>
            <a:endParaRPr/>
          </a:p>
        </p:txBody>
      </p:sp>
      <p:sp>
        <p:nvSpPr>
          <p:cNvPr id="573391692" name="Rectangle 25"/>
          <p:cNvSpPr/>
          <p:nvPr/>
        </p:nvSpPr>
        <p:spPr bwMode="auto">
          <a:xfrm>
            <a:off x="571500" y="2676525"/>
            <a:ext cx="7524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0014402" name="Rectangle 26"/>
          <p:cNvSpPr/>
          <p:nvPr/>
        </p:nvSpPr>
        <p:spPr bwMode="auto">
          <a:xfrm>
            <a:off x="571500" y="2686050"/>
            <a:ext cx="7524750" cy="590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1248219" name="Rectangle 27"/>
          <p:cNvSpPr/>
          <p:nvPr/>
        </p:nvSpPr>
        <p:spPr bwMode="auto">
          <a:xfrm>
            <a:off x="571500" y="2686050"/>
            <a:ext cx="38100" cy="59054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3647250" name="TextBox 28"/>
          <p:cNvSpPr txBox="1"/>
          <p:nvPr/>
        </p:nvSpPr>
        <p:spPr bwMode="auto">
          <a:xfrm>
            <a:off x="685800" y="2686050"/>
            <a:ext cx="9525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共享内存</a:t>
            </a:r>
            <a:endParaRPr/>
          </a:p>
        </p:txBody>
      </p:sp>
      <p:sp>
        <p:nvSpPr>
          <p:cNvPr id="1060071329" name="TextBox 29"/>
          <p:cNvSpPr txBox="1"/>
          <p:nvPr/>
        </p:nvSpPr>
        <p:spPr bwMode="auto">
          <a:xfrm>
            <a:off x="1809750" y="2686050"/>
            <a:ext cx="169545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150" b="0" i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shm_open / mmap</a:t>
            </a:r>
            <a:endParaRPr/>
          </a:p>
        </p:txBody>
      </p:sp>
      <p:sp>
        <p:nvSpPr>
          <p:cNvPr id="1312812256" name="TextBox 30"/>
          <p:cNvSpPr txBox="1"/>
          <p:nvPr/>
        </p:nvSpPr>
        <p:spPr bwMode="auto">
          <a:xfrm>
            <a:off x="3676650" y="2686050"/>
            <a:ext cx="18669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Bridge ↔ Scheduler / Worker</a:t>
            </a:r>
            <a:endParaRPr/>
          </a:p>
        </p:txBody>
      </p:sp>
      <p:sp>
        <p:nvSpPr>
          <p:cNvPr id="2129013831" name="TextBox 31"/>
          <p:cNvSpPr txBox="1"/>
          <p:nvPr/>
        </p:nvSpPr>
        <p:spPr bwMode="auto">
          <a:xfrm>
            <a:off x="5715000" y="2686050"/>
            <a:ext cx="23241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每帧世界状态零拷贝共享</a:t>
            </a:r>
            <a:endParaRPr/>
          </a:p>
        </p:txBody>
      </p:sp>
      <p:sp>
        <p:nvSpPr>
          <p:cNvPr id="358986692" name="Rectangle 32"/>
          <p:cNvSpPr/>
          <p:nvPr/>
        </p:nvSpPr>
        <p:spPr bwMode="auto">
          <a:xfrm>
            <a:off x="571500" y="3267075"/>
            <a:ext cx="7524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2068785" name="Rectangle 33"/>
          <p:cNvSpPr/>
          <p:nvPr/>
        </p:nvSpPr>
        <p:spPr bwMode="auto">
          <a:xfrm>
            <a:off x="571500" y="3276600"/>
            <a:ext cx="7524750" cy="59054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7781708" name="Rectangle 34"/>
          <p:cNvSpPr/>
          <p:nvPr/>
        </p:nvSpPr>
        <p:spPr bwMode="auto">
          <a:xfrm>
            <a:off x="571500" y="3276600"/>
            <a:ext cx="38100" cy="59054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2965259" name="TextBox 35"/>
          <p:cNvSpPr txBox="1"/>
          <p:nvPr/>
        </p:nvSpPr>
        <p:spPr bwMode="auto">
          <a:xfrm>
            <a:off x="685800" y="3276600"/>
            <a:ext cx="9525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信号量</a:t>
            </a:r>
            <a:endParaRPr/>
          </a:p>
        </p:txBody>
      </p:sp>
      <p:sp>
        <p:nvSpPr>
          <p:cNvPr id="869115872" name="TextBox 36"/>
          <p:cNvSpPr txBox="1"/>
          <p:nvPr/>
        </p:nvSpPr>
        <p:spPr bwMode="auto">
          <a:xfrm>
            <a:off x="1809750" y="3276600"/>
            <a:ext cx="169545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150" b="0" i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sem_wait / sem_post</a:t>
            </a:r>
            <a:endParaRPr/>
          </a:p>
        </p:txBody>
      </p:sp>
      <p:sp>
        <p:nvSpPr>
          <p:cNvPr id="9798832" name="TextBox 37"/>
          <p:cNvSpPr txBox="1"/>
          <p:nvPr/>
        </p:nvSpPr>
        <p:spPr bwMode="auto">
          <a:xfrm>
            <a:off x="3676650" y="3276600"/>
            <a:ext cx="18669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Worker ↔ 厨具</a:t>
            </a:r>
            <a:endParaRPr/>
          </a:p>
        </p:txBody>
      </p:sp>
      <p:sp>
        <p:nvSpPr>
          <p:cNvPr id="48083386" name="TextBox 38"/>
          <p:cNvSpPr txBox="1"/>
          <p:nvPr/>
        </p:nvSpPr>
        <p:spPr bwMode="auto">
          <a:xfrm>
            <a:off x="5715000" y="3276600"/>
            <a:ext cx="23241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临界区互斥与有限资源计数</a:t>
            </a:r>
            <a:endParaRPr/>
          </a:p>
        </p:txBody>
      </p:sp>
      <p:sp>
        <p:nvSpPr>
          <p:cNvPr id="841470698" name="Rectangle 39"/>
          <p:cNvSpPr/>
          <p:nvPr/>
        </p:nvSpPr>
        <p:spPr bwMode="auto">
          <a:xfrm>
            <a:off x="571500" y="3857625"/>
            <a:ext cx="7524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5574862" name="Rectangle 40"/>
          <p:cNvSpPr/>
          <p:nvPr/>
        </p:nvSpPr>
        <p:spPr bwMode="auto">
          <a:xfrm>
            <a:off x="571500" y="3867150"/>
            <a:ext cx="7524750" cy="590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970014" name="Rectangle 41"/>
          <p:cNvSpPr/>
          <p:nvPr/>
        </p:nvSpPr>
        <p:spPr bwMode="auto">
          <a:xfrm>
            <a:off x="571500" y="3867150"/>
            <a:ext cx="38100" cy="59054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3820929" name="TextBox 42"/>
          <p:cNvSpPr txBox="1"/>
          <p:nvPr/>
        </p:nvSpPr>
        <p:spPr bwMode="auto">
          <a:xfrm>
            <a:off x="685800" y="3867150"/>
            <a:ext cx="9525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文件锁</a:t>
            </a:r>
            <a:endParaRPr/>
          </a:p>
        </p:txBody>
      </p:sp>
      <p:sp>
        <p:nvSpPr>
          <p:cNvPr id="1346497083" name="TextBox 43"/>
          <p:cNvSpPr txBox="1"/>
          <p:nvPr/>
        </p:nvSpPr>
        <p:spPr bwMode="auto">
          <a:xfrm>
            <a:off x="1809750" y="3867150"/>
            <a:ext cx="169545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150" b="0" i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fcntl(F_SETLK)</a:t>
            </a:r>
            <a:endParaRPr/>
          </a:p>
        </p:txBody>
      </p:sp>
      <p:sp>
        <p:nvSpPr>
          <p:cNvPr id="103450612" name="TextBox 44"/>
          <p:cNvSpPr txBox="1"/>
          <p:nvPr/>
        </p:nvSpPr>
        <p:spPr bwMode="auto">
          <a:xfrm>
            <a:off x="3676650" y="3867150"/>
            <a:ext cx="18669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Supervisor / 日志</a:t>
            </a:r>
            <a:endParaRPr/>
          </a:p>
        </p:txBody>
      </p:sp>
      <p:sp>
        <p:nvSpPr>
          <p:cNvPr id="260071807" name="TextBox 45"/>
          <p:cNvSpPr txBox="1"/>
          <p:nvPr/>
        </p:nvSpPr>
        <p:spPr bwMode="auto">
          <a:xfrm>
            <a:off x="5715000" y="3867150"/>
            <a:ext cx="23241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单实例运行、多进程安全写日志</a:t>
            </a:r>
            <a:endParaRPr/>
          </a:p>
        </p:txBody>
      </p:sp>
      <p:sp>
        <p:nvSpPr>
          <p:cNvPr id="1419795501" name="Rectangle 46"/>
          <p:cNvSpPr/>
          <p:nvPr/>
        </p:nvSpPr>
        <p:spPr bwMode="auto">
          <a:xfrm>
            <a:off x="571500" y="4448175"/>
            <a:ext cx="7524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0208745" name="Rectangle 47"/>
          <p:cNvSpPr/>
          <p:nvPr/>
        </p:nvSpPr>
        <p:spPr bwMode="auto">
          <a:xfrm>
            <a:off x="571500" y="4457700"/>
            <a:ext cx="7524750" cy="59054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0356147" name="Rectangle 48"/>
          <p:cNvSpPr/>
          <p:nvPr/>
        </p:nvSpPr>
        <p:spPr bwMode="auto">
          <a:xfrm>
            <a:off x="571500" y="4457700"/>
            <a:ext cx="38100" cy="59054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8129798" name="TextBox 49"/>
          <p:cNvSpPr txBox="1"/>
          <p:nvPr/>
        </p:nvSpPr>
        <p:spPr bwMode="auto">
          <a:xfrm>
            <a:off x="685800" y="4457700"/>
            <a:ext cx="9525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TCP Socket</a:t>
            </a:r>
            <a:endParaRPr/>
          </a:p>
        </p:txBody>
      </p:sp>
      <p:sp>
        <p:nvSpPr>
          <p:cNvPr id="231562089" name="TextBox 50"/>
          <p:cNvSpPr txBox="1"/>
          <p:nvPr/>
        </p:nvSpPr>
        <p:spPr bwMode="auto">
          <a:xfrm>
            <a:off x="1809750" y="4457700"/>
            <a:ext cx="169545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150" b="0" i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socket / connect</a:t>
            </a:r>
            <a:endParaRPr/>
          </a:p>
        </p:txBody>
      </p:sp>
      <p:sp>
        <p:nvSpPr>
          <p:cNvPr id="412478643" name="TextBox 51"/>
          <p:cNvSpPr txBox="1"/>
          <p:nvPr/>
        </p:nvSpPr>
        <p:spPr bwMode="auto">
          <a:xfrm>
            <a:off x="3676650" y="4457700"/>
            <a:ext cx="18669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Bridge ↔ 游戏插件</a:t>
            </a:r>
            <a:endParaRPr/>
          </a:p>
        </p:txBody>
      </p:sp>
      <p:sp>
        <p:nvSpPr>
          <p:cNvPr id="637856621" name="TextBox 52"/>
          <p:cNvSpPr txBox="1"/>
          <p:nvPr/>
        </p:nvSpPr>
        <p:spPr bwMode="auto">
          <a:xfrm>
            <a:off x="5715000" y="4457700"/>
            <a:ext cx="2324100" cy="5905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跨越 Linux 与 Windows/Proton 边界</a:t>
            </a:r>
            <a:endParaRPr/>
          </a:p>
        </p:txBody>
      </p:sp>
      <p:sp>
        <p:nvSpPr>
          <p:cNvPr id="370745721" name="Rectangle 53"/>
          <p:cNvSpPr/>
          <p:nvPr/>
        </p:nvSpPr>
        <p:spPr bwMode="auto">
          <a:xfrm>
            <a:off x="571500" y="5038725"/>
            <a:ext cx="7524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3260021" name="Rounded Rectangle 54"/>
          <p:cNvSpPr/>
          <p:nvPr/>
        </p:nvSpPr>
        <p:spPr bwMode="auto">
          <a:xfrm>
            <a:off x="571500" y="5200650"/>
            <a:ext cx="7524750" cy="41910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2502515" name="TextBox 55"/>
          <p:cNvSpPr txBox="1"/>
          <p:nvPr/>
        </p:nvSpPr>
        <p:spPr bwMode="auto">
          <a:xfrm>
            <a:off x="723900" y="5200650"/>
            <a:ext cx="7239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分工原则：</a:t>
            </a: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控制流走管道与信号，任务流走消息队列，数据流走共享内存，跨系统走 TCP。</a:t>
            </a:r>
            <a:endParaRPr/>
          </a:p>
        </p:txBody>
      </p:sp>
      <p:sp>
        <p:nvSpPr>
          <p:cNvPr id="701812652" name="Rounded Rectangle 56"/>
          <p:cNvSpPr/>
          <p:nvPr/>
        </p:nvSpPr>
        <p:spPr bwMode="auto">
          <a:xfrm>
            <a:off x="8343900" y="1181099"/>
            <a:ext cx="3276600" cy="5200650"/>
          </a:xfrm>
          <a:prstGeom prst="roundRect">
            <a:avLst>
              <a:gd name="adj" fmla="val 3488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9595710" name="TextBox 57"/>
          <p:cNvSpPr txBox="1"/>
          <p:nvPr/>
        </p:nvSpPr>
        <p:spPr bwMode="auto">
          <a:xfrm>
            <a:off x="8553450" y="135255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信号处理清单</a:t>
            </a:r>
            <a:endParaRPr/>
          </a:p>
        </p:txBody>
      </p:sp>
      <p:sp>
        <p:nvSpPr>
          <p:cNvPr id="1725429687" name="Rounded Rectangle 58"/>
          <p:cNvSpPr/>
          <p:nvPr/>
        </p:nvSpPr>
        <p:spPr bwMode="auto">
          <a:xfrm>
            <a:off x="8553450" y="1695450"/>
            <a:ext cx="2857500" cy="704850"/>
          </a:xfrm>
          <a:prstGeom prst="roundRect">
            <a:avLst>
              <a:gd name="adj" fmla="val 10810"/>
            </a:avLst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8537636" name="TextBox 59"/>
          <p:cNvSpPr txBox="1"/>
          <p:nvPr/>
        </p:nvSpPr>
        <p:spPr bwMode="auto">
          <a:xfrm>
            <a:off x="8705850" y="1790700"/>
            <a:ext cx="1333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500" b="1" i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SIGCHLD</a:t>
            </a:r>
            <a:endParaRPr/>
          </a:p>
        </p:txBody>
      </p:sp>
      <p:sp>
        <p:nvSpPr>
          <p:cNvPr id="1421275764" name="TextBox 60"/>
          <p:cNvSpPr txBox="1"/>
          <p:nvPr/>
        </p:nvSpPr>
        <p:spPr bwMode="auto">
          <a:xfrm>
            <a:off x="10001250" y="1809750"/>
            <a:ext cx="12954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1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Supervisor</a:t>
            </a:r>
            <a:endParaRPr/>
          </a:p>
        </p:txBody>
      </p:sp>
      <p:sp>
        <p:nvSpPr>
          <p:cNvPr id="2006413645" name="TextBox 61"/>
          <p:cNvSpPr txBox="1"/>
          <p:nvPr/>
        </p:nvSpPr>
        <p:spPr bwMode="auto">
          <a:xfrm>
            <a:off x="8705850" y="2076450"/>
            <a:ext cx="2628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子进程退出 → waitpid 收割并重启</a:t>
            </a:r>
            <a:endParaRPr/>
          </a:p>
        </p:txBody>
      </p:sp>
      <p:sp>
        <p:nvSpPr>
          <p:cNvPr id="1125982470" name="Rounded Rectangle 62"/>
          <p:cNvSpPr/>
          <p:nvPr/>
        </p:nvSpPr>
        <p:spPr bwMode="auto">
          <a:xfrm>
            <a:off x="8553450" y="2457450"/>
            <a:ext cx="2857500" cy="704850"/>
          </a:xfrm>
          <a:prstGeom prst="roundRect">
            <a:avLst>
              <a:gd name="adj" fmla="val 10810"/>
            </a:avLst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5864123" name="TextBox 63"/>
          <p:cNvSpPr txBox="1"/>
          <p:nvPr/>
        </p:nvSpPr>
        <p:spPr bwMode="auto">
          <a:xfrm>
            <a:off x="8705850" y="2552700"/>
            <a:ext cx="1333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500" b="1" i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SIGALRM</a:t>
            </a:r>
            <a:endParaRPr/>
          </a:p>
        </p:txBody>
      </p:sp>
      <p:sp>
        <p:nvSpPr>
          <p:cNvPr id="617181446" name="TextBox 64"/>
          <p:cNvSpPr txBox="1"/>
          <p:nvPr/>
        </p:nvSpPr>
        <p:spPr bwMode="auto">
          <a:xfrm>
            <a:off x="10001250" y="2571750"/>
            <a:ext cx="12954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1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Supervisor</a:t>
            </a:r>
            <a:endParaRPr/>
          </a:p>
        </p:txBody>
      </p:sp>
      <p:sp>
        <p:nvSpPr>
          <p:cNvPr id="472202040" name="TextBox 65"/>
          <p:cNvSpPr txBox="1"/>
          <p:nvPr/>
        </p:nvSpPr>
        <p:spPr bwMode="auto">
          <a:xfrm>
            <a:off x="8705850" y="2838450"/>
            <a:ext cx="2628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setitimer 周期健康检查</a:t>
            </a:r>
            <a:endParaRPr/>
          </a:p>
        </p:txBody>
      </p:sp>
      <p:sp>
        <p:nvSpPr>
          <p:cNvPr id="448294280" name="Rounded Rectangle 66"/>
          <p:cNvSpPr/>
          <p:nvPr/>
        </p:nvSpPr>
        <p:spPr bwMode="auto">
          <a:xfrm>
            <a:off x="8553450" y="3219449"/>
            <a:ext cx="2857500" cy="704850"/>
          </a:xfrm>
          <a:prstGeom prst="roundRect">
            <a:avLst>
              <a:gd name="adj" fmla="val 10810"/>
            </a:avLst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6062029" name="TextBox 67"/>
          <p:cNvSpPr txBox="1"/>
          <p:nvPr/>
        </p:nvSpPr>
        <p:spPr bwMode="auto">
          <a:xfrm>
            <a:off x="8705850" y="3314700"/>
            <a:ext cx="1333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500" b="1" i="0">
                <a:solidFill>
                  <a:srgbClr val="60A5FA"/>
                </a:solidFill>
                <a:latin typeface="Consolas"/>
                <a:ea typeface="Microsoft YaHei"/>
                <a:cs typeface="Consolas"/>
              </a:rPr>
              <a:t>SIGTERM</a:t>
            </a:r>
            <a:endParaRPr/>
          </a:p>
        </p:txBody>
      </p:sp>
      <p:sp>
        <p:nvSpPr>
          <p:cNvPr id="1370081141" name="TextBox 68"/>
          <p:cNvSpPr txBox="1"/>
          <p:nvPr/>
        </p:nvSpPr>
        <p:spPr bwMode="auto">
          <a:xfrm>
            <a:off x="10001250" y="3333750"/>
            <a:ext cx="12954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1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全部进程</a:t>
            </a:r>
            <a:endParaRPr/>
          </a:p>
        </p:txBody>
      </p:sp>
      <p:sp>
        <p:nvSpPr>
          <p:cNvPr id="840180609" name="TextBox 69"/>
          <p:cNvSpPr txBox="1"/>
          <p:nvPr/>
        </p:nvSpPr>
        <p:spPr bwMode="auto">
          <a:xfrm>
            <a:off x="8705850" y="3600450"/>
            <a:ext cx="2628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优雅退出，清理子进程与 IPC</a:t>
            </a:r>
            <a:endParaRPr/>
          </a:p>
        </p:txBody>
      </p:sp>
      <p:sp>
        <p:nvSpPr>
          <p:cNvPr id="1069735481" name="Rounded Rectangle 70"/>
          <p:cNvSpPr/>
          <p:nvPr/>
        </p:nvSpPr>
        <p:spPr bwMode="auto">
          <a:xfrm>
            <a:off x="8553450" y="3981450"/>
            <a:ext cx="2857500" cy="704850"/>
          </a:xfrm>
          <a:prstGeom prst="roundRect">
            <a:avLst>
              <a:gd name="adj" fmla="val 10810"/>
            </a:avLst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5979377" name="TextBox 71"/>
          <p:cNvSpPr txBox="1"/>
          <p:nvPr/>
        </p:nvSpPr>
        <p:spPr bwMode="auto">
          <a:xfrm>
            <a:off x="8705850" y="4076699"/>
            <a:ext cx="1333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500" b="1" i="0">
                <a:solidFill>
                  <a:srgbClr val="34D399"/>
                </a:solidFill>
                <a:latin typeface="Consolas"/>
                <a:ea typeface="Microsoft YaHei"/>
                <a:cs typeface="Consolas"/>
              </a:rPr>
              <a:t>SIGHUP</a:t>
            </a:r>
            <a:endParaRPr/>
          </a:p>
        </p:txBody>
      </p:sp>
      <p:sp>
        <p:nvSpPr>
          <p:cNvPr id="597941553" name="TextBox 72"/>
          <p:cNvSpPr txBox="1"/>
          <p:nvPr/>
        </p:nvSpPr>
        <p:spPr bwMode="auto">
          <a:xfrm>
            <a:off x="10001250" y="4095750"/>
            <a:ext cx="12954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1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Scheduler</a:t>
            </a:r>
            <a:endParaRPr/>
          </a:p>
        </p:txBody>
      </p:sp>
      <p:sp>
        <p:nvSpPr>
          <p:cNvPr id="367087567" name="TextBox 73"/>
          <p:cNvSpPr txBox="1"/>
          <p:nvPr/>
        </p:nvSpPr>
        <p:spPr bwMode="auto">
          <a:xfrm>
            <a:off x="8705850" y="4362450"/>
            <a:ext cx="2628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热切换调度策略，无需重启</a:t>
            </a:r>
            <a:endParaRPr/>
          </a:p>
        </p:txBody>
      </p:sp>
      <p:sp>
        <p:nvSpPr>
          <p:cNvPr id="801387467" name="Rounded Rectangle 74"/>
          <p:cNvSpPr/>
          <p:nvPr/>
        </p:nvSpPr>
        <p:spPr bwMode="auto">
          <a:xfrm>
            <a:off x="8553450" y="4743450"/>
            <a:ext cx="2857500" cy="704850"/>
          </a:xfrm>
          <a:prstGeom prst="roundRect">
            <a:avLst>
              <a:gd name="adj" fmla="val 10810"/>
            </a:avLst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9875338" name="TextBox 75"/>
          <p:cNvSpPr txBox="1"/>
          <p:nvPr/>
        </p:nvSpPr>
        <p:spPr bwMode="auto">
          <a:xfrm>
            <a:off x="8705850" y="4838700"/>
            <a:ext cx="1333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500" b="1" i="0">
                <a:solidFill>
                  <a:srgbClr val="A78BFA"/>
                </a:solidFill>
                <a:latin typeface="Consolas"/>
                <a:ea typeface="Microsoft YaHei"/>
                <a:cs typeface="Consolas"/>
              </a:rPr>
              <a:t>SIGUSR1</a:t>
            </a:r>
            <a:endParaRPr/>
          </a:p>
        </p:txBody>
      </p:sp>
      <p:sp>
        <p:nvSpPr>
          <p:cNvPr id="858672575" name="TextBox 76"/>
          <p:cNvSpPr txBox="1"/>
          <p:nvPr/>
        </p:nvSpPr>
        <p:spPr bwMode="auto">
          <a:xfrm>
            <a:off x="10001250" y="4857750"/>
            <a:ext cx="12954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1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Scheduler</a:t>
            </a:r>
            <a:endParaRPr/>
          </a:p>
        </p:txBody>
      </p:sp>
      <p:sp>
        <p:nvSpPr>
          <p:cNvPr id="994463133" name="TextBox 77"/>
          <p:cNvSpPr txBox="1"/>
          <p:nvPr/>
        </p:nvSpPr>
        <p:spPr bwMode="auto">
          <a:xfrm>
            <a:off x="8705850" y="5124450"/>
            <a:ext cx="2628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导出状态快照（临时文件 + rename）</a:t>
            </a:r>
            <a:endParaRPr/>
          </a:p>
        </p:txBody>
      </p:sp>
      <p:sp>
        <p:nvSpPr>
          <p:cNvPr id="1863959121" name="TextBox 78"/>
          <p:cNvSpPr txBox="1"/>
          <p:nvPr/>
        </p:nvSpPr>
        <p:spPr bwMode="auto">
          <a:xfrm>
            <a:off x="8553450" y="5619750"/>
            <a:ext cx="28575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defRPr/>
            </a:pPr>
            <a:r>
              <a:rPr sz="1150" b="0" i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统一用 sigaction 注册 + SA_RESTART，被中断的系统调用自动重启。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122752" name="Rectangl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5848480" name="TextBox 2"/>
          <p:cNvSpPr txBox="1"/>
          <p:nvPr/>
        </p:nvSpPr>
        <p:spPr bwMode="auto">
          <a:xfrm>
            <a:off x="571500" y="323850"/>
            <a:ext cx="6667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06 / 同步与互斥</a:t>
            </a:r>
            <a:endParaRPr/>
          </a:p>
        </p:txBody>
      </p:sp>
      <p:sp>
        <p:nvSpPr>
          <p:cNvPr id="1034906434" name="TextBox 3"/>
          <p:cNvSpPr txBox="1"/>
          <p:nvPr/>
        </p:nvSpPr>
        <p:spPr bwMode="auto">
          <a:xfrm>
            <a:off x="571500" y="514350"/>
            <a:ext cx="11049000" cy="4000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2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厨具就是临界资源：四类经典同步问题 + 两类可靠性问题</a:t>
            </a:r>
            <a:endParaRPr/>
          </a:p>
        </p:txBody>
      </p:sp>
      <p:sp>
        <p:nvSpPr>
          <p:cNvPr id="2045763310" name="Rectangle 4"/>
          <p:cNvSpPr/>
          <p:nvPr/>
        </p:nvSpPr>
        <p:spPr bwMode="auto"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8021499" name="TextBox 5"/>
          <p:cNvSpPr txBox="1"/>
          <p:nvPr/>
        </p:nvSpPr>
        <p:spPr bwMode="auto">
          <a:xfrm>
            <a:off x="571500" y="657225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WellCooked · 操作系统原理课程设计</a:t>
            </a:r>
            <a:endParaRPr/>
          </a:p>
        </p:txBody>
      </p:sp>
      <p:sp>
        <p:nvSpPr>
          <p:cNvPr id="490728541" name="TextBox 6"/>
          <p:cNvSpPr txBox="1"/>
          <p:nvPr/>
        </p:nvSpPr>
        <p:spPr bwMode="auto">
          <a:xfrm>
            <a:off x="10668000" y="6572250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000" b="1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07</a:t>
            </a:r>
            <a:endParaRPr/>
          </a:p>
        </p:txBody>
      </p:sp>
      <p:sp>
        <p:nvSpPr>
          <p:cNvPr id="1256094696" name="Rounded Rectangle 7"/>
          <p:cNvSpPr/>
          <p:nvPr/>
        </p:nvSpPr>
        <p:spPr bwMode="auto">
          <a:xfrm>
            <a:off x="571500" y="1181099"/>
            <a:ext cx="3467100" cy="2495550"/>
          </a:xfrm>
          <a:prstGeom prst="roundRect">
            <a:avLst>
              <a:gd name="adj" fmla="val 381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8920551" name="Rectangle 8"/>
          <p:cNvSpPr/>
          <p:nvPr/>
        </p:nvSpPr>
        <p:spPr bwMode="auto">
          <a:xfrm>
            <a:off x="571500" y="1181099"/>
            <a:ext cx="3467100" cy="476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0163758" name="TextBox 9"/>
          <p:cNvSpPr txBox="1"/>
          <p:nvPr/>
        </p:nvSpPr>
        <p:spPr bwMode="auto">
          <a:xfrm>
            <a:off x="762000" y="1390650"/>
            <a:ext cx="30861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7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砧板 · 互斥锁</a:t>
            </a:r>
            <a:endParaRPr/>
          </a:p>
        </p:txBody>
      </p:sp>
      <p:sp>
        <p:nvSpPr>
          <p:cNvPr id="641656951" name="TextBox 10"/>
          <p:cNvSpPr txBox="1"/>
          <p:nvPr/>
        </p:nvSpPr>
        <p:spPr bwMode="auto">
          <a:xfrm>
            <a:off x="762000" y="1714500"/>
            <a:ext cx="30861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defRPr/>
            </a:pPr>
            <a:r>
              <a:rPr sz="130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同一时刻只能一人切菜</a:t>
            </a:r>
            <a:endParaRPr/>
          </a:p>
        </p:txBody>
      </p:sp>
      <p:sp>
        <p:nvSpPr>
          <p:cNvPr id="1912257865" name="Rounded Rectangle 11"/>
          <p:cNvSpPr/>
          <p:nvPr/>
        </p:nvSpPr>
        <p:spPr bwMode="auto">
          <a:xfrm>
            <a:off x="762000" y="2247900"/>
            <a:ext cx="3086100" cy="121920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3162141" name="TextBox 12"/>
          <p:cNvSpPr txBox="1"/>
          <p:nvPr/>
        </p:nvSpPr>
        <p:spPr bwMode="auto">
          <a:xfrm>
            <a:off x="914400" y="2324100"/>
            <a:ext cx="2857500" cy="1066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defRPr/>
            </a:pPr>
            <a:r>
              <a:rPr sz="1300" b="1" i="0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sem_wait(board);</a:t>
            </a:r>
            <a:endParaRPr/>
          </a:p>
          <a:p>
            <a:pPr algn="l">
              <a:lnSpc>
                <a:spcPct val="145000"/>
              </a:lnSpc>
              <a:defRPr/>
            </a:pPr>
            <a:r>
              <a:rPr sz="1300" b="1" i="0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  cut();</a:t>
            </a:r>
            <a:endParaRPr/>
          </a:p>
          <a:p>
            <a:pPr algn="l">
              <a:lnSpc>
                <a:spcPct val="145000"/>
              </a:lnSpc>
              <a:defRPr/>
            </a:pPr>
            <a:r>
              <a:rPr sz="1300" b="1" i="0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sem_post(board);</a:t>
            </a:r>
            <a:endParaRPr/>
          </a:p>
        </p:txBody>
      </p:sp>
      <p:sp>
        <p:nvSpPr>
          <p:cNvPr id="1506626686" name="Rounded Rectangle 13"/>
          <p:cNvSpPr/>
          <p:nvPr/>
        </p:nvSpPr>
        <p:spPr bwMode="auto">
          <a:xfrm>
            <a:off x="4191000" y="1181099"/>
            <a:ext cx="3467100" cy="2495550"/>
          </a:xfrm>
          <a:prstGeom prst="roundRect">
            <a:avLst>
              <a:gd name="adj" fmla="val 381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4812440" name="Rectangle 14"/>
          <p:cNvSpPr/>
          <p:nvPr/>
        </p:nvSpPr>
        <p:spPr bwMode="auto">
          <a:xfrm>
            <a:off x="4191000" y="1181099"/>
            <a:ext cx="3467100" cy="4762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5038566" name="TextBox 15"/>
          <p:cNvSpPr txBox="1"/>
          <p:nvPr/>
        </p:nvSpPr>
        <p:spPr bwMode="auto">
          <a:xfrm>
            <a:off x="4381500" y="1390650"/>
            <a:ext cx="30861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7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锅 ×2 · 计数信号量</a:t>
            </a:r>
            <a:endParaRPr/>
          </a:p>
        </p:txBody>
      </p:sp>
      <p:sp>
        <p:nvSpPr>
          <p:cNvPr id="120176286" name="TextBox 16"/>
          <p:cNvSpPr txBox="1"/>
          <p:nvPr/>
        </p:nvSpPr>
        <p:spPr bwMode="auto">
          <a:xfrm>
            <a:off x="4381500" y="1714500"/>
            <a:ext cx="30861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defRPr/>
            </a:pPr>
            <a:r>
              <a:rPr sz="130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第 3 个烹饪请求阻塞，调度器改派其他工序</a:t>
            </a:r>
            <a:endParaRPr/>
          </a:p>
        </p:txBody>
      </p:sp>
      <p:sp>
        <p:nvSpPr>
          <p:cNvPr id="572623011" name="Rounded Rectangle 17"/>
          <p:cNvSpPr/>
          <p:nvPr/>
        </p:nvSpPr>
        <p:spPr bwMode="auto">
          <a:xfrm>
            <a:off x="4381500" y="2247900"/>
            <a:ext cx="3086100" cy="121920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2416862" name="TextBox 18"/>
          <p:cNvSpPr txBox="1"/>
          <p:nvPr/>
        </p:nvSpPr>
        <p:spPr bwMode="auto">
          <a:xfrm>
            <a:off x="4533900" y="2324100"/>
            <a:ext cx="2857500" cy="1066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defRPr/>
            </a:pPr>
            <a:r>
              <a:rPr sz="1300" b="1" i="0">
                <a:solidFill>
                  <a:srgbClr val="D97706"/>
                </a:solidFill>
                <a:latin typeface="Consolas"/>
                <a:ea typeface="Microsoft YaHei"/>
                <a:cs typeface="Consolas"/>
              </a:rPr>
              <a:t>sem_init(&amp;pot, 1, 2);</a:t>
            </a:r>
            <a:endParaRPr/>
          </a:p>
          <a:p>
            <a:pPr algn="l">
              <a:lnSpc>
                <a:spcPct val="145000"/>
              </a:lnSpc>
              <a:defRPr/>
            </a:pPr>
            <a:r>
              <a:rPr sz="1300" b="1" i="0">
                <a:solidFill>
                  <a:srgbClr val="D97706"/>
                </a:solidFill>
                <a:latin typeface="Consolas"/>
                <a:ea typeface="Microsoft YaHei"/>
                <a:cs typeface="Consolas"/>
              </a:rPr>
              <a:t>sem_wait(&amp;pot); cook();</a:t>
            </a:r>
            <a:endParaRPr/>
          </a:p>
        </p:txBody>
      </p:sp>
      <p:sp>
        <p:nvSpPr>
          <p:cNvPr id="2143465665" name="Rounded Rectangle 19"/>
          <p:cNvSpPr/>
          <p:nvPr/>
        </p:nvSpPr>
        <p:spPr bwMode="auto">
          <a:xfrm>
            <a:off x="571500" y="3810000"/>
            <a:ext cx="3467100" cy="2495550"/>
          </a:xfrm>
          <a:prstGeom prst="roundRect">
            <a:avLst>
              <a:gd name="adj" fmla="val 381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4602719" name="Rectangle 20"/>
          <p:cNvSpPr/>
          <p:nvPr/>
        </p:nvSpPr>
        <p:spPr bwMode="auto">
          <a:xfrm>
            <a:off x="571500" y="3810000"/>
            <a:ext cx="3467100" cy="476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6707326" name="TextBox 21"/>
          <p:cNvSpPr txBox="1"/>
          <p:nvPr/>
        </p:nvSpPr>
        <p:spPr bwMode="auto">
          <a:xfrm>
            <a:off x="762000" y="4019550"/>
            <a:ext cx="30861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7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盘子 · 生产者消费者</a:t>
            </a:r>
            <a:endParaRPr/>
          </a:p>
        </p:txBody>
      </p:sp>
      <p:sp>
        <p:nvSpPr>
          <p:cNvPr id="442701085" name="TextBox 22"/>
          <p:cNvSpPr txBox="1"/>
          <p:nvPr/>
        </p:nvSpPr>
        <p:spPr bwMode="auto">
          <a:xfrm>
            <a:off x="762000" y="4343400"/>
            <a:ext cx="30861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defRPr/>
            </a:pPr>
            <a:r>
              <a:rPr sz="130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脏盘回收与洗盘构成有界缓冲区</a:t>
            </a:r>
            <a:endParaRPr/>
          </a:p>
        </p:txBody>
      </p:sp>
      <p:sp>
        <p:nvSpPr>
          <p:cNvPr id="1210472687" name="Rounded Rectangle 23"/>
          <p:cNvSpPr/>
          <p:nvPr/>
        </p:nvSpPr>
        <p:spPr bwMode="auto">
          <a:xfrm>
            <a:off x="762000" y="4876800"/>
            <a:ext cx="3086100" cy="1219200"/>
          </a:xfrm>
          <a:prstGeom prst="roundRect">
            <a:avLst>
              <a:gd name="adj" fmla="val 6250"/>
            </a:avLst>
          </a:prstGeom>
          <a:solidFill>
            <a:srgbClr val="ECFDF5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0150541" name="TextBox 24"/>
          <p:cNvSpPr txBox="1"/>
          <p:nvPr/>
        </p:nvSpPr>
        <p:spPr bwMode="auto">
          <a:xfrm>
            <a:off x="914400" y="4953000"/>
            <a:ext cx="2857500" cy="1066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defRPr/>
            </a:pPr>
            <a:r>
              <a:rPr sz="1300" b="1" i="0">
                <a:solidFill>
                  <a:srgbClr val="059669"/>
                </a:solidFill>
                <a:latin typeface="Consolas"/>
                <a:ea typeface="Microsoft YaHei"/>
                <a:cs typeface="Consolas"/>
              </a:rPr>
              <a:t>empty / full / mutex</a:t>
            </a:r>
            <a:endParaRPr/>
          </a:p>
          <a:p>
            <a:pPr algn="l">
              <a:lnSpc>
                <a:spcPct val="145000"/>
              </a:lnSpc>
              <a:defRPr/>
            </a:pPr>
            <a:r>
              <a:rPr sz="1300" b="1" i="0">
                <a:solidFill>
                  <a:srgbClr val="059669"/>
                </a:solidFill>
                <a:latin typeface="Consolas"/>
                <a:ea typeface="Microsoft YaHei"/>
                <a:cs typeface="Consolas"/>
              </a:rPr>
              <a:t>三个信号量</a:t>
            </a:r>
            <a:endParaRPr/>
          </a:p>
        </p:txBody>
      </p:sp>
      <p:sp>
        <p:nvSpPr>
          <p:cNvPr id="347116198" name="Rounded Rectangle 25"/>
          <p:cNvSpPr/>
          <p:nvPr/>
        </p:nvSpPr>
        <p:spPr bwMode="auto">
          <a:xfrm>
            <a:off x="4191000" y="3810000"/>
            <a:ext cx="3467100" cy="2495550"/>
          </a:xfrm>
          <a:prstGeom prst="roundRect">
            <a:avLst>
              <a:gd name="adj" fmla="val 381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1083495" name="Rectangle 26"/>
          <p:cNvSpPr/>
          <p:nvPr/>
        </p:nvSpPr>
        <p:spPr bwMode="auto">
          <a:xfrm>
            <a:off x="4191000" y="3810000"/>
            <a:ext cx="3467100" cy="4762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651443" name="TextBox 27"/>
          <p:cNvSpPr txBox="1"/>
          <p:nvPr/>
        </p:nvSpPr>
        <p:spPr bwMode="auto">
          <a:xfrm>
            <a:off x="4381500" y="4019550"/>
            <a:ext cx="30861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7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世界状态 · 读者写者</a:t>
            </a:r>
            <a:endParaRPr/>
          </a:p>
        </p:txBody>
      </p:sp>
      <p:sp>
        <p:nvSpPr>
          <p:cNvPr id="1913336138" name="TextBox 28"/>
          <p:cNvSpPr txBox="1"/>
          <p:nvPr/>
        </p:nvSpPr>
        <p:spPr bwMode="auto">
          <a:xfrm>
            <a:off x="4381500" y="4343400"/>
            <a:ext cx="30861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defRPr/>
            </a:pPr>
            <a:r>
              <a:rPr sz="130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Bridge 每帧独占写，Scheduler / Worker 并发读</a:t>
            </a:r>
            <a:endParaRPr/>
          </a:p>
        </p:txBody>
      </p:sp>
      <p:sp>
        <p:nvSpPr>
          <p:cNvPr id="365429714" name="Rounded Rectangle 29"/>
          <p:cNvSpPr/>
          <p:nvPr/>
        </p:nvSpPr>
        <p:spPr bwMode="auto">
          <a:xfrm>
            <a:off x="4381500" y="4876800"/>
            <a:ext cx="3086100" cy="1219200"/>
          </a:xfrm>
          <a:prstGeom prst="roundRect">
            <a:avLst>
              <a:gd name="adj" fmla="val 6250"/>
            </a:avLst>
          </a:prstGeom>
          <a:solidFill>
            <a:srgbClr val="F5F3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7353534" name="TextBox 30"/>
          <p:cNvSpPr txBox="1"/>
          <p:nvPr/>
        </p:nvSpPr>
        <p:spPr bwMode="auto">
          <a:xfrm>
            <a:off x="4533900" y="4953000"/>
            <a:ext cx="2857500" cy="1066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defRPr/>
            </a:pPr>
            <a:r>
              <a:rPr sz="1300" b="1" i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seqlock：写时版本号+1</a:t>
            </a:r>
            <a:endParaRPr/>
          </a:p>
          <a:p>
            <a:pPr algn="l">
              <a:lnSpc>
                <a:spcPct val="145000"/>
              </a:lnSpc>
              <a:defRPr/>
            </a:pPr>
            <a:r>
              <a:rPr sz="1300" b="1" i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读前后版本一致才有效</a:t>
            </a:r>
            <a:endParaRPr/>
          </a:p>
        </p:txBody>
      </p:sp>
      <p:sp>
        <p:nvSpPr>
          <p:cNvPr id="937332358" name="Rounded Rectangle 31"/>
          <p:cNvSpPr/>
          <p:nvPr/>
        </p:nvSpPr>
        <p:spPr bwMode="auto">
          <a:xfrm>
            <a:off x="7962900" y="1181099"/>
            <a:ext cx="3657600" cy="26289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0362972" name="Rectangle 32"/>
          <p:cNvSpPr/>
          <p:nvPr/>
        </p:nvSpPr>
        <p:spPr bwMode="auto">
          <a:xfrm>
            <a:off x="7962900" y="1181099"/>
            <a:ext cx="3657600" cy="476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0115145" name="TextBox 33"/>
          <p:cNvSpPr txBox="1"/>
          <p:nvPr/>
        </p:nvSpPr>
        <p:spPr bwMode="auto">
          <a:xfrm>
            <a:off x="8153399" y="1371600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7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死锁：检测与恢复</a:t>
            </a:r>
            <a:endParaRPr/>
          </a:p>
        </p:txBody>
      </p:sp>
      <p:sp>
        <p:nvSpPr>
          <p:cNvPr id="886325109" name="Oval 34"/>
          <p:cNvSpPr/>
          <p:nvPr/>
        </p:nvSpPr>
        <p:spPr bwMode="auto">
          <a:xfrm>
            <a:off x="8382000" y="2038349"/>
            <a:ext cx="609600" cy="3810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5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厨师A</a:t>
            </a:r>
            <a:endParaRPr/>
          </a:p>
        </p:txBody>
      </p:sp>
      <p:sp>
        <p:nvSpPr>
          <p:cNvPr id="587923090" name="Oval 35"/>
          <p:cNvSpPr/>
          <p:nvPr/>
        </p:nvSpPr>
        <p:spPr bwMode="auto">
          <a:xfrm>
            <a:off x="8382000" y="3028950"/>
            <a:ext cx="609600" cy="3810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5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厨师B</a:t>
            </a:r>
            <a:endParaRPr/>
          </a:p>
        </p:txBody>
      </p:sp>
      <p:sp>
        <p:nvSpPr>
          <p:cNvPr id="1370141392" name="Rectangle 36"/>
          <p:cNvSpPr/>
          <p:nvPr/>
        </p:nvSpPr>
        <p:spPr bwMode="auto">
          <a:xfrm>
            <a:off x="9639300" y="2038349"/>
            <a:ext cx="609600" cy="38100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锅</a:t>
            </a:r>
            <a:endParaRPr/>
          </a:p>
        </p:txBody>
      </p:sp>
      <p:sp>
        <p:nvSpPr>
          <p:cNvPr id="1342507581" name="Rectangle 37"/>
          <p:cNvSpPr/>
          <p:nvPr/>
        </p:nvSpPr>
        <p:spPr bwMode="auto">
          <a:xfrm>
            <a:off x="9639300" y="3028950"/>
            <a:ext cx="609600" cy="3810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盘子</a:t>
            </a:r>
            <a:endParaRPr/>
          </a:p>
        </p:txBody>
      </p:sp>
      <p:cxnSp>
        <p:nvCxnSpPr>
          <p:cNvPr id="7676770" name="Connector 38"/>
          <p:cNvCxnSpPr/>
          <p:nvPr/>
        </p:nvCxnSpPr>
        <p:spPr bwMode="auto">
          <a:xfrm flipH="1">
            <a:off x="8991600" y="2228850"/>
            <a:ext cx="647700" cy="0"/>
          </a:xfrm>
          <a:prstGeom prst="line">
            <a:avLst/>
          </a:prstGeom>
          <a:ln w="19050">
            <a:solidFill>
              <a:srgbClr val="D97706"/>
            </a:solidFill>
            <a:tailEnd type="triangle" w="med" len="med"/>
          </a:ln>
        </p:spPr>
      </p:cxnSp>
      <p:cxnSp>
        <p:nvCxnSpPr>
          <p:cNvPr id="1297792307" name="Connector 39"/>
          <p:cNvCxnSpPr/>
          <p:nvPr/>
        </p:nvCxnSpPr>
        <p:spPr bwMode="auto">
          <a:xfrm>
            <a:off x="8686800" y="2419350"/>
            <a:ext cx="1123950" cy="609600"/>
          </a:xfrm>
          <a:prstGeom prst="line">
            <a:avLst/>
          </a:prstGeom>
          <a:ln w="19050">
            <a:solidFill>
              <a:srgbClr val="DC2626"/>
            </a:solidFill>
            <a:tailEnd type="triangle" w="med" len="med"/>
          </a:ln>
        </p:spPr>
      </p:cxnSp>
      <p:cxnSp>
        <p:nvCxnSpPr>
          <p:cNvPr id="544262545" name="Connector 40"/>
          <p:cNvCxnSpPr/>
          <p:nvPr/>
        </p:nvCxnSpPr>
        <p:spPr bwMode="auto">
          <a:xfrm flipH="1">
            <a:off x="8991600" y="3219449"/>
            <a:ext cx="647700" cy="0"/>
          </a:xfrm>
          <a:prstGeom prst="line">
            <a:avLst/>
          </a:prstGeom>
          <a:ln w="19050">
            <a:solidFill>
              <a:srgbClr val="059669"/>
            </a:solidFill>
            <a:tailEnd type="triangle" w="med" len="med"/>
          </a:ln>
        </p:spPr>
      </p:cxnSp>
      <p:cxnSp>
        <p:nvCxnSpPr>
          <p:cNvPr id="1612382093" name="Connector 41"/>
          <p:cNvCxnSpPr/>
          <p:nvPr/>
        </p:nvCxnSpPr>
        <p:spPr bwMode="auto">
          <a:xfrm flipV="1">
            <a:off x="8686800" y="2419350"/>
            <a:ext cx="1123950" cy="609600"/>
          </a:xfrm>
          <a:prstGeom prst="line">
            <a:avLst/>
          </a:prstGeom>
          <a:ln w="19050">
            <a:solidFill>
              <a:srgbClr val="DC2626"/>
            </a:solidFill>
            <a:tailEnd type="triangle" w="med" len="med"/>
          </a:ln>
        </p:spPr>
      </p:cxnSp>
      <p:sp>
        <p:nvSpPr>
          <p:cNvPr id="1718225012" name="TextBox 42"/>
          <p:cNvSpPr txBox="1"/>
          <p:nvPr/>
        </p:nvSpPr>
        <p:spPr bwMode="auto">
          <a:xfrm>
            <a:off x="10382250" y="1866900"/>
            <a:ext cx="1181099" cy="171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defRPr/>
            </a:pPr>
            <a:r>
              <a:rPr sz="11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A 持锅等盘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1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B 持盘等锅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1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→ 环路等待</a:t>
            </a:r>
            <a:endParaRPr/>
          </a:p>
          <a:p>
            <a:pPr algn="l">
              <a:lnSpc>
                <a:spcPct val="130000"/>
              </a:lnSpc>
              <a:defRPr/>
            </a:pPr>
            <a:endParaRPr/>
          </a:p>
          <a:p>
            <a:pPr algn="l">
              <a:lnSpc>
                <a:spcPct val="130000"/>
              </a:lnSpc>
              <a:defRPr/>
            </a:pPr>
            <a:r>
              <a:rPr sz="11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定期查环，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1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让一方释放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1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并回退重排</a:t>
            </a:r>
            <a:endParaRPr/>
          </a:p>
        </p:txBody>
      </p:sp>
      <p:sp>
        <p:nvSpPr>
          <p:cNvPr id="611401240" name="Rounded Rectangle 43"/>
          <p:cNvSpPr/>
          <p:nvPr/>
        </p:nvSpPr>
        <p:spPr bwMode="auto">
          <a:xfrm>
            <a:off x="7962900" y="3943350"/>
            <a:ext cx="3657600" cy="2438400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6265934" name="Rectangle 44"/>
          <p:cNvSpPr/>
          <p:nvPr/>
        </p:nvSpPr>
        <p:spPr bwMode="auto">
          <a:xfrm>
            <a:off x="7962900" y="3943350"/>
            <a:ext cx="3657600" cy="476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3146597" name="TextBox 45"/>
          <p:cNvSpPr txBox="1"/>
          <p:nvPr/>
        </p:nvSpPr>
        <p:spPr bwMode="auto">
          <a:xfrm>
            <a:off x="8153399" y="4133850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7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持锁进程崩溃：健壮锁</a:t>
            </a:r>
            <a:endParaRPr/>
          </a:p>
        </p:txBody>
      </p:sp>
      <p:sp>
        <p:nvSpPr>
          <p:cNvPr id="1117992686" name="TextBox 46"/>
          <p:cNvSpPr txBox="1"/>
          <p:nvPr/>
        </p:nvSpPr>
        <p:spPr bwMode="auto">
          <a:xfrm>
            <a:off x="8153399" y="4457700"/>
            <a:ext cx="3276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持锁 Worker 被 kill，其他进程会永久阻塞。</a:t>
            </a:r>
            <a:endParaRPr/>
          </a:p>
        </p:txBody>
      </p:sp>
      <p:sp>
        <p:nvSpPr>
          <p:cNvPr id="1538167713" name="Rounded Rectangle 47"/>
          <p:cNvSpPr/>
          <p:nvPr/>
        </p:nvSpPr>
        <p:spPr bwMode="auto">
          <a:xfrm>
            <a:off x="8153399" y="4876800"/>
            <a:ext cx="3276600" cy="91440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4701681" name="TextBox 48"/>
          <p:cNvSpPr txBox="1"/>
          <p:nvPr/>
        </p:nvSpPr>
        <p:spPr bwMode="auto">
          <a:xfrm>
            <a:off x="8286750" y="4933950"/>
            <a:ext cx="3048000" cy="800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  <a:defRPr/>
            </a:pPr>
            <a:r>
              <a:rPr sz="1150" b="1" i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PTHREAD_MUTEX_ROBUST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150" b="1" i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+ PTHREAD_PROCESS_SHARED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150" b="1" i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lock() 返回 EOWNERDEAD →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150" b="1" i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恢复厨具状态 + consistent()</a:t>
            </a:r>
            <a:endParaRPr/>
          </a:p>
        </p:txBody>
      </p:sp>
      <p:sp>
        <p:nvSpPr>
          <p:cNvPr id="1750915210" name="TextBox 49"/>
          <p:cNvSpPr txBox="1"/>
          <p:nvPr/>
        </p:nvSpPr>
        <p:spPr bwMode="auto">
          <a:xfrm>
            <a:off x="8153399" y="5905500"/>
            <a:ext cx="3276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兜底：锁租约超时，Supervisor 强制回收。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14707" name="Rectangl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7386912" name="TextBox 2"/>
          <p:cNvSpPr txBox="1"/>
          <p:nvPr/>
        </p:nvSpPr>
        <p:spPr bwMode="auto">
          <a:xfrm>
            <a:off x="571500" y="323850"/>
            <a:ext cx="6667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07 / 调度设计</a:t>
            </a:r>
            <a:endParaRPr/>
          </a:p>
        </p:txBody>
      </p:sp>
      <p:sp>
        <p:nvSpPr>
          <p:cNvPr id="225417123" name="TextBox 3"/>
          <p:cNvSpPr txBox="1"/>
          <p:nvPr/>
        </p:nvSpPr>
        <p:spPr bwMode="auto">
          <a:xfrm>
            <a:off x="571500" y="514350"/>
            <a:ext cx="11049000" cy="4000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2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两级调度：订单级选“先做哪单”，工序级定“谁做哪步”</a:t>
            </a:r>
            <a:endParaRPr/>
          </a:p>
        </p:txBody>
      </p:sp>
      <p:sp>
        <p:nvSpPr>
          <p:cNvPr id="1693831767" name="Rectangle 4"/>
          <p:cNvSpPr/>
          <p:nvPr/>
        </p:nvSpPr>
        <p:spPr bwMode="auto"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5925381" name="TextBox 5"/>
          <p:cNvSpPr txBox="1"/>
          <p:nvPr/>
        </p:nvSpPr>
        <p:spPr bwMode="auto">
          <a:xfrm>
            <a:off x="571500" y="657225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WellCooked · 操作系统原理课程设计</a:t>
            </a:r>
            <a:endParaRPr/>
          </a:p>
        </p:txBody>
      </p:sp>
      <p:sp>
        <p:nvSpPr>
          <p:cNvPr id="1775498844" name="TextBox 6"/>
          <p:cNvSpPr txBox="1"/>
          <p:nvPr/>
        </p:nvSpPr>
        <p:spPr bwMode="auto">
          <a:xfrm>
            <a:off x="10668000" y="6572250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000" b="1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08</a:t>
            </a:r>
            <a:endParaRPr/>
          </a:p>
        </p:txBody>
      </p:sp>
      <p:sp>
        <p:nvSpPr>
          <p:cNvPr id="1751585425" name="TextBox 7"/>
          <p:cNvSpPr txBox="1"/>
          <p:nvPr/>
        </p:nvSpPr>
        <p:spPr bwMode="auto">
          <a:xfrm>
            <a:off x="571500" y="1181099"/>
            <a:ext cx="42862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① 订单级（作业调度）</a:t>
            </a:r>
            <a:endParaRPr/>
          </a:p>
        </p:txBody>
      </p:sp>
      <p:sp>
        <p:nvSpPr>
          <p:cNvPr id="159112835" name="Rounded Rectangle 8"/>
          <p:cNvSpPr/>
          <p:nvPr/>
        </p:nvSpPr>
        <p:spPr bwMode="auto">
          <a:xfrm>
            <a:off x="571500" y="1504950"/>
            <a:ext cx="428625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3216561" name="Rounded Rectangle 9"/>
          <p:cNvSpPr/>
          <p:nvPr/>
        </p:nvSpPr>
        <p:spPr bwMode="auto">
          <a:xfrm>
            <a:off x="742950" y="1676400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FCFS</a:t>
            </a:r>
            <a:endParaRPr/>
          </a:p>
        </p:txBody>
      </p:sp>
      <p:sp>
        <p:nvSpPr>
          <p:cNvPr id="1804148596" name="TextBox 10"/>
          <p:cNvSpPr txBox="1"/>
          <p:nvPr/>
        </p:nvSpPr>
        <p:spPr bwMode="auto">
          <a:xfrm>
            <a:off x="1543050" y="1676400"/>
            <a:ext cx="30480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先来先服务</a:t>
            </a:r>
            <a:endParaRPr/>
          </a:p>
        </p:txBody>
      </p:sp>
      <p:sp>
        <p:nvSpPr>
          <p:cNvPr id="1565103394" name="TextBox 11"/>
          <p:cNvSpPr txBox="1"/>
          <p:nvPr/>
        </p:nvSpPr>
        <p:spPr bwMode="auto">
          <a:xfrm>
            <a:off x="742950" y="2057400"/>
            <a:ext cx="3905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按到达时间排序</a:t>
            </a:r>
            <a:endParaRPr/>
          </a:p>
        </p:txBody>
      </p:sp>
      <p:sp>
        <p:nvSpPr>
          <p:cNvPr id="501552342" name="TextBox 12"/>
          <p:cNvSpPr txBox="1"/>
          <p:nvPr/>
        </p:nvSpPr>
        <p:spPr bwMode="auto">
          <a:xfrm>
            <a:off x="742950" y="2305050"/>
            <a:ext cx="3905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基线策略，最直观</a:t>
            </a:r>
            <a:endParaRPr/>
          </a:p>
        </p:txBody>
      </p:sp>
      <p:sp>
        <p:nvSpPr>
          <p:cNvPr id="698283955" name="Rounded Rectangle 13"/>
          <p:cNvSpPr/>
          <p:nvPr/>
        </p:nvSpPr>
        <p:spPr bwMode="auto">
          <a:xfrm>
            <a:off x="571500" y="2724150"/>
            <a:ext cx="428625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8466102" name="Rounded Rectangle 14"/>
          <p:cNvSpPr/>
          <p:nvPr/>
        </p:nvSpPr>
        <p:spPr bwMode="auto">
          <a:xfrm>
            <a:off x="742950" y="2895600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SJF</a:t>
            </a:r>
            <a:endParaRPr/>
          </a:p>
        </p:txBody>
      </p:sp>
      <p:sp>
        <p:nvSpPr>
          <p:cNvPr id="477578760" name="TextBox 15"/>
          <p:cNvSpPr txBox="1"/>
          <p:nvPr/>
        </p:nvSpPr>
        <p:spPr bwMode="auto">
          <a:xfrm>
            <a:off x="1543050" y="2895600"/>
            <a:ext cx="30480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短作业优先</a:t>
            </a:r>
            <a:endParaRPr/>
          </a:p>
        </p:txBody>
      </p:sp>
      <p:sp>
        <p:nvSpPr>
          <p:cNvPr id="1443961662" name="TextBox 16"/>
          <p:cNvSpPr txBox="1"/>
          <p:nvPr/>
        </p:nvSpPr>
        <p:spPr bwMode="auto">
          <a:xfrm>
            <a:off x="742950" y="3276600"/>
            <a:ext cx="3905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按剩余工时排序</a:t>
            </a:r>
            <a:endParaRPr/>
          </a:p>
        </p:txBody>
      </p:sp>
      <p:sp>
        <p:nvSpPr>
          <p:cNvPr id="590490789" name="TextBox 17"/>
          <p:cNvSpPr txBox="1"/>
          <p:nvPr/>
        </p:nvSpPr>
        <p:spPr bwMode="auto">
          <a:xfrm>
            <a:off x="742950" y="3524250"/>
            <a:ext cx="3905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吞吐高，长单可能饥饿</a:t>
            </a:r>
            <a:endParaRPr/>
          </a:p>
        </p:txBody>
      </p:sp>
      <p:sp>
        <p:nvSpPr>
          <p:cNvPr id="654254481" name="Rounded Rectangle 18"/>
          <p:cNvSpPr/>
          <p:nvPr/>
        </p:nvSpPr>
        <p:spPr bwMode="auto">
          <a:xfrm>
            <a:off x="571500" y="3943350"/>
            <a:ext cx="428625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2279009" name="Rounded Rectangle 19"/>
          <p:cNvSpPr/>
          <p:nvPr/>
        </p:nvSpPr>
        <p:spPr bwMode="auto">
          <a:xfrm>
            <a:off x="742950" y="4114800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EDF</a:t>
            </a:r>
            <a:endParaRPr/>
          </a:p>
        </p:txBody>
      </p:sp>
      <p:sp>
        <p:nvSpPr>
          <p:cNvPr id="1167649395" name="TextBox 20"/>
          <p:cNvSpPr txBox="1"/>
          <p:nvPr/>
        </p:nvSpPr>
        <p:spPr bwMode="auto">
          <a:xfrm>
            <a:off x="1543050" y="4114800"/>
            <a:ext cx="30480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最早截止期优先</a:t>
            </a:r>
            <a:endParaRPr/>
          </a:p>
        </p:txBody>
      </p:sp>
      <p:sp>
        <p:nvSpPr>
          <p:cNvPr id="384319504" name="TextBox 21"/>
          <p:cNvSpPr txBox="1"/>
          <p:nvPr/>
        </p:nvSpPr>
        <p:spPr bwMode="auto">
          <a:xfrm>
            <a:off x="742950" y="4495800"/>
            <a:ext cx="3905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按截止时间排序</a:t>
            </a:r>
            <a:endParaRPr/>
          </a:p>
        </p:txBody>
      </p:sp>
      <p:sp>
        <p:nvSpPr>
          <p:cNvPr id="2026456219" name="TextBox 22"/>
          <p:cNvSpPr txBox="1"/>
          <p:nvPr/>
        </p:nvSpPr>
        <p:spPr bwMode="auto">
          <a:xfrm>
            <a:off x="742950" y="4743450"/>
            <a:ext cx="3905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压低超时率</a:t>
            </a:r>
            <a:endParaRPr/>
          </a:p>
        </p:txBody>
      </p:sp>
      <p:sp>
        <p:nvSpPr>
          <p:cNvPr id="166629904" name="Rounded Rectangle 23"/>
          <p:cNvSpPr/>
          <p:nvPr/>
        </p:nvSpPr>
        <p:spPr bwMode="auto">
          <a:xfrm>
            <a:off x="571500" y="5162550"/>
            <a:ext cx="428625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6766085" name="Rounded Rectangle 24"/>
          <p:cNvSpPr/>
          <p:nvPr/>
        </p:nvSpPr>
        <p:spPr bwMode="auto">
          <a:xfrm>
            <a:off x="742950" y="5334000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HRRN</a:t>
            </a:r>
            <a:endParaRPr/>
          </a:p>
        </p:txBody>
      </p:sp>
      <p:sp>
        <p:nvSpPr>
          <p:cNvPr id="486747118" name="TextBox 25"/>
          <p:cNvSpPr txBox="1"/>
          <p:nvPr/>
        </p:nvSpPr>
        <p:spPr bwMode="auto">
          <a:xfrm>
            <a:off x="1543050" y="5334000"/>
            <a:ext cx="30480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高响应比优先</a:t>
            </a:r>
            <a:endParaRPr/>
          </a:p>
        </p:txBody>
      </p:sp>
      <p:sp>
        <p:nvSpPr>
          <p:cNvPr id="2059689320" name="TextBox 26"/>
          <p:cNvSpPr txBox="1"/>
          <p:nvPr/>
        </p:nvSpPr>
        <p:spPr bwMode="auto">
          <a:xfrm>
            <a:off x="742950" y="5715000"/>
            <a:ext cx="3905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R = (等待 + 服务) / 服务</a:t>
            </a:r>
            <a:endParaRPr/>
          </a:p>
        </p:txBody>
      </p:sp>
      <p:sp>
        <p:nvSpPr>
          <p:cNvPr id="212276617" name="TextBox 27"/>
          <p:cNvSpPr txBox="1"/>
          <p:nvPr/>
        </p:nvSpPr>
        <p:spPr bwMode="auto">
          <a:xfrm>
            <a:off x="742950" y="5962650"/>
            <a:ext cx="3905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兼顾长短单，天然抗饥饿</a:t>
            </a:r>
            <a:endParaRPr/>
          </a:p>
        </p:txBody>
      </p:sp>
      <p:sp>
        <p:nvSpPr>
          <p:cNvPr id="375775677" name="TextBox 28"/>
          <p:cNvSpPr txBox="1"/>
          <p:nvPr/>
        </p:nvSpPr>
        <p:spPr bwMode="auto">
          <a:xfrm>
            <a:off x="5143500" y="1181099"/>
            <a:ext cx="6477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② 工序级（进程调度）：两名厨师并行推进工序 DAG</a:t>
            </a:r>
            <a:endParaRPr/>
          </a:p>
        </p:txBody>
      </p:sp>
      <p:sp>
        <p:nvSpPr>
          <p:cNvPr id="409848464" name="Rounded Rectangle 29"/>
          <p:cNvSpPr/>
          <p:nvPr/>
        </p:nvSpPr>
        <p:spPr bwMode="auto">
          <a:xfrm>
            <a:off x="5143500" y="1504950"/>
            <a:ext cx="6477000" cy="18097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6866207" name="TextBox 30"/>
          <p:cNvSpPr txBox="1"/>
          <p:nvPr/>
        </p:nvSpPr>
        <p:spPr bwMode="auto">
          <a:xfrm>
            <a:off x="5334000" y="1600200"/>
            <a:ext cx="38100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00" b="1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示例：洋葱汤的工序 DAG</a:t>
            </a:r>
            <a:endParaRPr/>
          </a:p>
        </p:txBody>
      </p:sp>
      <p:sp>
        <p:nvSpPr>
          <p:cNvPr id="1809732331" name="Rounded Rectangle 31"/>
          <p:cNvSpPr/>
          <p:nvPr/>
        </p:nvSpPr>
        <p:spPr bwMode="auto">
          <a:xfrm>
            <a:off x="5334000" y="1924050"/>
            <a:ext cx="91440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3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取洋葱</a:t>
            </a:r>
            <a:endParaRPr/>
          </a:p>
        </p:txBody>
      </p:sp>
      <p:sp>
        <p:nvSpPr>
          <p:cNvPr id="353432601" name="Rounded Rectangle 32"/>
          <p:cNvSpPr/>
          <p:nvPr/>
        </p:nvSpPr>
        <p:spPr bwMode="auto">
          <a:xfrm>
            <a:off x="6362700" y="1924050"/>
            <a:ext cx="914400" cy="38100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300" b="1" i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切洋葱</a:t>
            </a:r>
            <a:endParaRPr/>
          </a:p>
        </p:txBody>
      </p:sp>
      <p:sp>
        <p:nvSpPr>
          <p:cNvPr id="2075097114" name="Rounded Rectangle 33"/>
          <p:cNvSpPr/>
          <p:nvPr/>
        </p:nvSpPr>
        <p:spPr bwMode="auto">
          <a:xfrm>
            <a:off x="7391400" y="1924050"/>
            <a:ext cx="914400" cy="38100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300" b="1" i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下锅煮</a:t>
            </a:r>
            <a:endParaRPr/>
          </a:p>
        </p:txBody>
      </p:sp>
      <p:sp>
        <p:nvSpPr>
          <p:cNvPr id="2062462024" name="Rounded Rectangle 34"/>
          <p:cNvSpPr/>
          <p:nvPr/>
        </p:nvSpPr>
        <p:spPr bwMode="auto">
          <a:xfrm>
            <a:off x="9486900" y="1924050"/>
            <a:ext cx="91440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3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装盘</a:t>
            </a:r>
            <a:endParaRPr/>
          </a:p>
        </p:txBody>
      </p:sp>
      <p:sp>
        <p:nvSpPr>
          <p:cNvPr id="1473885150" name="Rounded Rectangle 35"/>
          <p:cNvSpPr/>
          <p:nvPr/>
        </p:nvSpPr>
        <p:spPr bwMode="auto">
          <a:xfrm>
            <a:off x="10515600" y="1924050"/>
            <a:ext cx="91440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3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交付</a:t>
            </a:r>
            <a:endParaRPr/>
          </a:p>
        </p:txBody>
      </p:sp>
      <p:cxnSp>
        <p:nvCxnSpPr>
          <p:cNvPr id="279498256" name="Connector 36"/>
          <p:cNvCxnSpPr/>
          <p:nvPr/>
        </p:nvCxnSpPr>
        <p:spPr bwMode="auto">
          <a:xfrm>
            <a:off x="6248400" y="2114550"/>
            <a:ext cx="11430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</p:cxnSp>
      <p:cxnSp>
        <p:nvCxnSpPr>
          <p:cNvPr id="601626050" name="Connector 37"/>
          <p:cNvCxnSpPr/>
          <p:nvPr/>
        </p:nvCxnSpPr>
        <p:spPr bwMode="auto">
          <a:xfrm>
            <a:off x="7277100" y="2114550"/>
            <a:ext cx="11430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</p:cxnSp>
      <p:cxnSp>
        <p:nvCxnSpPr>
          <p:cNvPr id="1097668609" name="Connector 38"/>
          <p:cNvCxnSpPr/>
          <p:nvPr/>
        </p:nvCxnSpPr>
        <p:spPr bwMode="auto">
          <a:xfrm>
            <a:off x="10401300" y="2114550"/>
            <a:ext cx="11430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</p:cxnSp>
      <p:cxnSp>
        <p:nvCxnSpPr>
          <p:cNvPr id="1365788761" name="Connector 39"/>
          <p:cNvCxnSpPr/>
          <p:nvPr/>
        </p:nvCxnSpPr>
        <p:spPr bwMode="auto">
          <a:xfrm>
            <a:off x="8305800" y="2114550"/>
            <a:ext cx="1181099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</p:cxnSp>
      <p:sp>
        <p:nvSpPr>
          <p:cNvPr id="1485740404" name="TextBox 40"/>
          <p:cNvSpPr txBox="1"/>
          <p:nvPr/>
        </p:nvSpPr>
        <p:spPr bwMode="auto">
          <a:xfrm>
            <a:off x="8362950" y="1905000"/>
            <a:ext cx="11049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050" b="1" i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煮 5s（I/O）</a:t>
            </a:r>
            <a:endParaRPr/>
          </a:p>
        </p:txBody>
      </p:sp>
      <p:sp>
        <p:nvSpPr>
          <p:cNvPr id="834729613" name="Rounded Rectangle 41"/>
          <p:cNvSpPr/>
          <p:nvPr/>
        </p:nvSpPr>
        <p:spPr bwMode="auto">
          <a:xfrm>
            <a:off x="7391400" y="2628900"/>
            <a:ext cx="9144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50" b="1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取盘子</a:t>
            </a:r>
            <a:endParaRPr/>
          </a:p>
        </p:txBody>
      </p:sp>
      <p:cxnSp>
        <p:nvCxnSpPr>
          <p:cNvPr id="1774081086" name="Connector 42"/>
          <p:cNvCxnSpPr/>
          <p:nvPr/>
        </p:nvCxnSpPr>
        <p:spPr bwMode="auto">
          <a:xfrm flipV="1">
            <a:off x="8305800" y="2305050"/>
            <a:ext cx="1638300" cy="495300"/>
          </a:xfrm>
          <a:prstGeom prst="line">
            <a:avLst/>
          </a:prstGeom>
          <a:ln w="19050">
            <a:solidFill>
              <a:srgbClr val="94A3B8"/>
            </a:solidFill>
            <a:prstDash val="dash"/>
            <a:tailEnd type="triangle" w="med" len="med"/>
          </a:ln>
        </p:spPr>
      </p:cxnSp>
      <p:sp>
        <p:nvSpPr>
          <p:cNvPr id="614696078" name="TextBox 43"/>
          <p:cNvSpPr txBox="1"/>
          <p:nvPr/>
        </p:nvSpPr>
        <p:spPr bwMode="auto">
          <a:xfrm>
            <a:off x="5334000" y="2495550"/>
            <a:ext cx="2000250" cy="704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defRPr/>
            </a:pPr>
            <a:r>
              <a:rPr sz="11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橙色：关键路径（最长链）</a:t>
            </a:r>
            <a:endParaRPr/>
          </a:p>
          <a:p>
            <a:pPr algn="l">
              <a:lnSpc>
                <a:spcPct val="140000"/>
              </a:lnSpc>
              <a:defRPr/>
            </a:pPr>
            <a:r>
              <a:rPr sz="11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灰色：可与烹饪并行的分支</a:t>
            </a:r>
            <a:endParaRPr/>
          </a:p>
        </p:txBody>
      </p:sp>
      <p:sp>
        <p:nvSpPr>
          <p:cNvPr id="707335453" name="TextBox 44"/>
          <p:cNvSpPr txBox="1"/>
          <p:nvPr/>
        </p:nvSpPr>
        <p:spPr bwMode="auto">
          <a:xfrm>
            <a:off x="8572500" y="2762250"/>
            <a:ext cx="295275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就绪条件：前驱完成 + 所需厨具空闲</a:t>
            </a:r>
            <a:endParaRPr/>
          </a:p>
        </p:txBody>
      </p:sp>
      <p:sp>
        <p:nvSpPr>
          <p:cNvPr id="770290903" name="TextBox 45"/>
          <p:cNvSpPr txBox="1"/>
          <p:nvPr/>
        </p:nvSpPr>
        <p:spPr bwMode="auto">
          <a:xfrm>
            <a:off x="5143500" y="3467100"/>
            <a:ext cx="6477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调度规则：空闲厨师从就绪队列取优先级最高的工序</a:t>
            </a:r>
            <a:endParaRPr/>
          </a:p>
        </p:txBody>
      </p:sp>
      <p:sp>
        <p:nvSpPr>
          <p:cNvPr id="2122258680" name="TextBox 46"/>
          <p:cNvSpPr txBox="1"/>
          <p:nvPr/>
        </p:nvSpPr>
        <p:spPr bwMode="auto">
          <a:xfrm>
            <a:off x="5143500" y="3733800"/>
            <a:ext cx="6477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优先级 = 订单紧迫度 + 关键路径 + 厨具空闲 + 等待时长 − 移动距离</a:t>
            </a:r>
            <a:endParaRPr/>
          </a:p>
        </p:txBody>
      </p:sp>
      <p:sp>
        <p:nvSpPr>
          <p:cNvPr id="1475834899" name="Rounded Rectangle 47"/>
          <p:cNvSpPr/>
          <p:nvPr/>
        </p:nvSpPr>
        <p:spPr bwMode="auto">
          <a:xfrm>
            <a:off x="5143500" y="4038600"/>
            <a:ext cx="6477000" cy="2343150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4813521" name="TextBox 48"/>
          <p:cNvSpPr txBox="1"/>
          <p:nvPr/>
        </p:nvSpPr>
        <p:spPr bwMode="auto">
          <a:xfrm>
            <a:off x="5334000" y="4152900"/>
            <a:ext cx="6096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甘特图：锅在煮的时候，厨师去做别的（CPU 与 I/O 重叠）</a:t>
            </a:r>
            <a:endParaRPr/>
          </a:p>
        </p:txBody>
      </p:sp>
      <p:sp>
        <p:nvSpPr>
          <p:cNvPr id="597551011" name="TextBox 49"/>
          <p:cNvSpPr txBox="1"/>
          <p:nvPr/>
        </p:nvSpPr>
        <p:spPr bwMode="auto">
          <a:xfrm>
            <a:off x="5334000" y="4572000"/>
            <a:ext cx="685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厨师 0</a:t>
            </a:r>
            <a:endParaRPr/>
          </a:p>
        </p:txBody>
      </p:sp>
      <p:sp>
        <p:nvSpPr>
          <p:cNvPr id="1264191888" name="Rectangle 50"/>
          <p:cNvSpPr/>
          <p:nvPr/>
        </p:nvSpPr>
        <p:spPr bwMode="auto">
          <a:xfrm>
            <a:off x="6096000" y="4933950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7918571" name="TextBox 51"/>
          <p:cNvSpPr txBox="1"/>
          <p:nvPr/>
        </p:nvSpPr>
        <p:spPr bwMode="auto">
          <a:xfrm>
            <a:off x="5334000" y="5143500"/>
            <a:ext cx="685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锅 0</a:t>
            </a:r>
            <a:endParaRPr/>
          </a:p>
        </p:txBody>
      </p:sp>
      <p:sp>
        <p:nvSpPr>
          <p:cNvPr id="772636269" name="Rectangle 52"/>
          <p:cNvSpPr/>
          <p:nvPr/>
        </p:nvSpPr>
        <p:spPr bwMode="auto">
          <a:xfrm>
            <a:off x="6096000" y="5505450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2916622" name="TextBox 53"/>
          <p:cNvSpPr txBox="1"/>
          <p:nvPr/>
        </p:nvSpPr>
        <p:spPr bwMode="auto">
          <a:xfrm>
            <a:off x="5334000" y="5715000"/>
            <a:ext cx="685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厨师 1</a:t>
            </a:r>
            <a:endParaRPr/>
          </a:p>
        </p:txBody>
      </p:sp>
      <p:sp>
        <p:nvSpPr>
          <p:cNvPr id="408021804" name="Rectangle 54"/>
          <p:cNvSpPr/>
          <p:nvPr/>
        </p:nvSpPr>
        <p:spPr bwMode="auto">
          <a:xfrm>
            <a:off x="6096000" y="6076950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0685606" name="Rounded Rectangle 55"/>
          <p:cNvSpPr/>
          <p:nvPr/>
        </p:nvSpPr>
        <p:spPr bwMode="auto">
          <a:xfrm>
            <a:off x="6115050" y="4629150"/>
            <a:ext cx="723900" cy="266700"/>
          </a:xfrm>
          <a:prstGeom prst="roundRect">
            <a:avLst>
              <a:gd name="adj" fmla="val 21428"/>
            </a:avLst>
          </a:prstGeom>
          <a:solidFill>
            <a:srgbClr val="2563EB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取料</a:t>
            </a:r>
            <a:endParaRPr/>
          </a:p>
        </p:txBody>
      </p:sp>
      <p:sp>
        <p:nvSpPr>
          <p:cNvPr id="1152438018" name="Rounded Rectangle 56"/>
          <p:cNvSpPr/>
          <p:nvPr/>
        </p:nvSpPr>
        <p:spPr bwMode="auto">
          <a:xfrm>
            <a:off x="6877050" y="4629150"/>
            <a:ext cx="1485900" cy="266700"/>
          </a:xfrm>
          <a:prstGeom prst="roundRect">
            <a:avLst>
              <a:gd name="adj" fmla="val 21428"/>
            </a:avLst>
          </a:prstGeom>
          <a:solidFill>
            <a:srgbClr val="D97706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切洋葱</a:t>
            </a:r>
            <a:endParaRPr/>
          </a:p>
        </p:txBody>
      </p:sp>
      <p:sp>
        <p:nvSpPr>
          <p:cNvPr id="324618299" name="Rounded Rectangle 57"/>
          <p:cNvSpPr/>
          <p:nvPr/>
        </p:nvSpPr>
        <p:spPr bwMode="auto">
          <a:xfrm>
            <a:off x="8401050" y="4629150"/>
            <a:ext cx="1485900" cy="266700"/>
          </a:xfrm>
          <a:prstGeom prst="roundRect">
            <a:avLst>
              <a:gd name="adj" fmla="val 21428"/>
            </a:avLst>
          </a:prstGeom>
          <a:solidFill>
            <a:srgbClr val="94A3B8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切下一单</a:t>
            </a:r>
            <a:endParaRPr/>
          </a:p>
        </p:txBody>
      </p:sp>
      <p:sp>
        <p:nvSpPr>
          <p:cNvPr id="232914616" name="Rounded Rectangle 58"/>
          <p:cNvSpPr/>
          <p:nvPr/>
        </p:nvSpPr>
        <p:spPr bwMode="auto">
          <a:xfrm>
            <a:off x="9925050" y="4629150"/>
            <a:ext cx="1485900" cy="266700"/>
          </a:xfrm>
          <a:prstGeom prst="roundRect">
            <a:avLst>
              <a:gd name="adj" fmla="val 21428"/>
            </a:avLst>
          </a:prstGeom>
          <a:solidFill>
            <a:srgbClr val="059669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装盘交付</a:t>
            </a:r>
            <a:endParaRPr/>
          </a:p>
        </p:txBody>
      </p:sp>
      <p:sp>
        <p:nvSpPr>
          <p:cNvPr id="690412443" name="Rounded Rectangle 59"/>
          <p:cNvSpPr/>
          <p:nvPr/>
        </p:nvSpPr>
        <p:spPr bwMode="auto">
          <a:xfrm>
            <a:off x="8401050" y="5200650"/>
            <a:ext cx="1485900" cy="266700"/>
          </a:xfrm>
          <a:prstGeom prst="roundRect">
            <a:avLst>
              <a:gd name="adj" fmla="val 21428"/>
            </a:avLst>
          </a:prstGeom>
          <a:solidFill>
            <a:srgbClr val="DC2626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煮汤（自动）</a:t>
            </a:r>
            <a:endParaRPr/>
          </a:p>
        </p:txBody>
      </p:sp>
      <p:sp>
        <p:nvSpPr>
          <p:cNvPr id="54760790" name="Rounded Rectangle 60"/>
          <p:cNvSpPr/>
          <p:nvPr/>
        </p:nvSpPr>
        <p:spPr bwMode="auto">
          <a:xfrm>
            <a:off x="6115050" y="5772150"/>
            <a:ext cx="1485900" cy="266700"/>
          </a:xfrm>
          <a:prstGeom prst="roundRect">
            <a:avLst>
              <a:gd name="adj" fmla="val 21428"/>
            </a:avLst>
          </a:prstGeom>
          <a:solidFill>
            <a:srgbClr val="0891B2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洗盘</a:t>
            </a:r>
            <a:endParaRPr/>
          </a:p>
        </p:txBody>
      </p:sp>
      <p:sp>
        <p:nvSpPr>
          <p:cNvPr id="1413563550" name="Rounded Rectangle 61"/>
          <p:cNvSpPr/>
          <p:nvPr/>
        </p:nvSpPr>
        <p:spPr bwMode="auto">
          <a:xfrm>
            <a:off x="7639050" y="5772150"/>
            <a:ext cx="1485900" cy="266700"/>
          </a:xfrm>
          <a:prstGeom prst="roundRect">
            <a:avLst>
              <a:gd name="adj" fmla="val 21428"/>
            </a:avLst>
          </a:prstGeom>
          <a:solidFill>
            <a:srgbClr val="94A3B8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取盘子</a:t>
            </a:r>
            <a:endParaRPr/>
          </a:p>
        </p:txBody>
      </p:sp>
      <p:sp>
        <p:nvSpPr>
          <p:cNvPr id="1511050228" name="Rounded Rectangle 62"/>
          <p:cNvSpPr/>
          <p:nvPr/>
        </p:nvSpPr>
        <p:spPr bwMode="auto">
          <a:xfrm>
            <a:off x="9163050" y="5772150"/>
            <a:ext cx="1485900" cy="266700"/>
          </a:xfrm>
          <a:prstGeom prst="roundRect">
            <a:avLst>
              <a:gd name="adj" fmla="val 21428"/>
            </a:avLst>
          </a:prstGeom>
          <a:solidFill>
            <a:srgbClr val="D97706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切番茄</a:t>
            </a:r>
            <a:endParaRPr/>
          </a:p>
        </p:txBody>
      </p:sp>
      <p:sp>
        <p:nvSpPr>
          <p:cNvPr id="2048769013" name="TextBox 63"/>
          <p:cNvSpPr txBox="1"/>
          <p:nvPr/>
        </p:nvSpPr>
        <p:spPr bwMode="auto">
          <a:xfrm>
            <a:off x="6096000" y="6134100"/>
            <a:ext cx="53340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时间 →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638749" name="Rectangl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9373756" name="TextBox 2"/>
          <p:cNvSpPr txBox="1"/>
          <p:nvPr/>
        </p:nvSpPr>
        <p:spPr bwMode="auto">
          <a:xfrm>
            <a:off x="571500" y="323850"/>
            <a:ext cx="6667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08 / 运行时序</a:t>
            </a:r>
            <a:endParaRPr/>
          </a:p>
        </p:txBody>
      </p:sp>
      <p:sp>
        <p:nvSpPr>
          <p:cNvPr id="1949373702" name="TextBox 3"/>
          <p:cNvSpPr txBox="1"/>
          <p:nvPr/>
        </p:nvSpPr>
        <p:spPr bwMode="auto">
          <a:xfrm>
            <a:off x="571500" y="514350"/>
            <a:ext cx="11049000" cy="4000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2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一张订单在系统里怎么流转：从游戏状态到厨师动作</a:t>
            </a:r>
            <a:endParaRPr/>
          </a:p>
        </p:txBody>
      </p:sp>
      <p:sp>
        <p:nvSpPr>
          <p:cNvPr id="1009914704" name="Rectangle 4"/>
          <p:cNvSpPr/>
          <p:nvPr/>
        </p:nvSpPr>
        <p:spPr bwMode="auto"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8867908" name="TextBox 5"/>
          <p:cNvSpPr txBox="1"/>
          <p:nvPr/>
        </p:nvSpPr>
        <p:spPr bwMode="auto">
          <a:xfrm>
            <a:off x="571500" y="657225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WellCooked · 操作系统原理课程设计</a:t>
            </a:r>
            <a:endParaRPr/>
          </a:p>
        </p:txBody>
      </p:sp>
      <p:sp>
        <p:nvSpPr>
          <p:cNvPr id="1986067846" name="TextBox 6"/>
          <p:cNvSpPr txBox="1"/>
          <p:nvPr/>
        </p:nvSpPr>
        <p:spPr bwMode="auto">
          <a:xfrm>
            <a:off x="10668000" y="6572250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000" b="1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09</a:t>
            </a:r>
            <a:endParaRPr/>
          </a:p>
        </p:txBody>
      </p:sp>
      <p:sp>
        <p:nvSpPr>
          <p:cNvPr id="1299522866" name="Rounded Rectangle 7"/>
          <p:cNvSpPr/>
          <p:nvPr/>
        </p:nvSpPr>
        <p:spPr bwMode="auto">
          <a:xfrm>
            <a:off x="857250" y="1181099"/>
            <a:ext cx="1714500" cy="3810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游戏插件</a:t>
            </a:r>
            <a:endParaRPr/>
          </a:p>
        </p:txBody>
      </p:sp>
      <p:cxnSp>
        <p:nvCxnSpPr>
          <p:cNvPr id="1097083555" name="Connector 8"/>
          <p:cNvCxnSpPr/>
          <p:nvPr/>
        </p:nvCxnSpPr>
        <p:spPr bwMode="auto">
          <a:xfrm>
            <a:off x="1714500" y="1562100"/>
            <a:ext cx="0" cy="4610100"/>
          </a:xfrm>
          <a:prstGeom prst="line">
            <a:avLst/>
          </a:prstGeom>
          <a:ln w="15875">
            <a:solidFill>
              <a:srgbClr val="CBD5E1"/>
            </a:solidFill>
            <a:prstDash val="dash"/>
          </a:ln>
        </p:spPr>
      </p:cxnSp>
      <p:sp>
        <p:nvSpPr>
          <p:cNvPr id="1131987032" name="Rounded Rectangle 9"/>
          <p:cNvSpPr/>
          <p:nvPr/>
        </p:nvSpPr>
        <p:spPr bwMode="auto">
          <a:xfrm>
            <a:off x="3095625" y="1181099"/>
            <a:ext cx="1714500" cy="3810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Bridge</a:t>
            </a:r>
            <a:endParaRPr/>
          </a:p>
        </p:txBody>
      </p:sp>
      <p:cxnSp>
        <p:nvCxnSpPr>
          <p:cNvPr id="1667298399" name="Connector 10"/>
          <p:cNvCxnSpPr/>
          <p:nvPr/>
        </p:nvCxnSpPr>
        <p:spPr bwMode="auto">
          <a:xfrm>
            <a:off x="3952875" y="1562100"/>
            <a:ext cx="0" cy="4610100"/>
          </a:xfrm>
          <a:prstGeom prst="line">
            <a:avLst/>
          </a:prstGeom>
          <a:ln w="15875">
            <a:solidFill>
              <a:srgbClr val="CBD5E1"/>
            </a:solidFill>
            <a:prstDash val="dash"/>
          </a:ln>
        </p:spPr>
      </p:cxnSp>
      <p:sp>
        <p:nvSpPr>
          <p:cNvPr id="493806507" name="Rounded Rectangle 11"/>
          <p:cNvSpPr/>
          <p:nvPr/>
        </p:nvSpPr>
        <p:spPr bwMode="auto">
          <a:xfrm>
            <a:off x="5334000" y="1181099"/>
            <a:ext cx="1714500" cy="3810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共享内存</a:t>
            </a:r>
            <a:endParaRPr/>
          </a:p>
        </p:txBody>
      </p:sp>
      <p:cxnSp>
        <p:nvCxnSpPr>
          <p:cNvPr id="1354287352" name="Connector 12"/>
          <p:cNvCxnSpPr/>
          <p:nvPr/>
        </p:nvCxnSpPr>
        <p:spPr bwMode="auto">
          <a:xfrm>
            <a:off x="6191250" y="1562100"/>
            <a:ext cx="0" cy="4610100"/>
          </a:xfrm>
          <a:prstGeom prst="line">
            <a:avLst/>
          </a:prstGeom>
          <a:ln w="15875">
            <a:solidFill>
              <a:srgbClr val="CBD5E1"/>
            </a:solidFill>
            <a:prstDash val="dash"/>
          </a:ln>
        </p:spPr>
      </p:cxnSp>
      <p:sp>
        <p:nvSpPr>
          <p:cNvPr id="1884559251" name="Rounded Rectangle 13"/>
          <p:cNvSpPr/>
          <p:nvPr/>
        </p:nvSpPr>
        <p:spPr bwMode="auto">
          <a:xfrm>
            <a:off x="7572375" y="1181099"/>
            <a:ext cx="1714500" cy="3810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Scheduler</a:t>
            </a:r>
            <a:endParaRPr/>
          </a:p>
        </p:txBody>
      </p:sp>
      <p:cxnSp>
        <p:nvCxnSpPr>
          <p:cNvPr id="1195346891" name="Connector 14"/>
          <p:cNvCxnSpPr/>
          <p:nvPr/>
        </p:nvCxnSpPr>
        <p:spPr bwMode="auto">
          <a:xfrm>
            <a:off x="8429625" y="1562100"/>
            <a:ext cx="0" cy="4610100"/>
          </a:xfrm>
          <a:prstGeom prst="line">
            <a:avLst/>
          </a:prstGeom>
          <a:ln w="15875">
            <a:solidFill>
              <a:srgbClr val="CBD5E1"/>
            </a:solidFill>
            <a:prstDash val="dash"/>
          </a:ln>
        </p:spPr>
      </p:cxnSp>
      <p:sp>
        <p:nvSpPr>
          <p:cNvPr id="503946651" name="Rounded Rectangle 15"/>
          <p:cNvSpPr/>
          <p:nvPr/>
        </p:nvSpPr>
        <p:spPr bwMode="auto">
          <a:xfrm>
            <a:off x="9810750" y="1181099"/>
            <a:ext cx="1714500" cy="38100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Worker 0</a:t>
            </a:r>
            <a:endParaRPr/>
          </a:p>
        </p:txBody>
      </p:sp>
      <p:cxnSp>
        <p:nvCxnSpPr>
          <p:cNvPr id="1313463299" name="Connector 16"/>
          <p:cNvCxnSpPr/>
          <p:nvPr/>
        </p:nvCxnSpPr>
        <p:spPr bwMode="auto">
          <a:xfrm>
            <a:off x="10668000" y="1562100"/>
            <a:ext cx="0" cy="4610100"/>
          </a:xfrm>
          <a:prstGeom prst="line">
            <a:avLst/>
          </a:prstGeom>
          <a:ln w="15875">
            <a:solidFill>
              <a:srgbClr val="CBD5E1"/>
            </a:solidFill>
            <a:prstDash val="dash"/>
          </a:ln>
        </p:spPr>
      </p:cxnSp>
      <p:cxnSp>
        <p:nvCxnSpPr>
          <p:cNvPr id="179735534" name="Connector 17"/>
          <p:cNvCxnSpPr/>
          <p:nvPr/>
        </p:nvCxnSpPr>
        <p:spPr bwMode="auto">
          <a:xfrm>
            <a:off x="1714500" y="1924050"/>
            <a:ext cx="2238375" cy="0"/>
          </a:xfrm>
          <a:prstGeom prst="line">
            <a:avLst/>
          </a:prstGeom>
          <a:ln w="22225">
            <a:solidFill>
              <a:srgbClr val="D97706"/>
            </a:solidFill>
            <a:tailEnd type="triangle" w="med" len="med"/>
          </a:ln>
        </p:spPr>
      </p:cxnSp>
      <p:sp>
        <p:nvSpPr>
          <p:cNvPr id="1103704000" name="TextBox 18"/>
          <p:cNvSpPr txBox="1"/>
          <p:nvPr/>
        </p:nvSpPr>
        <p:spPr bwMode="auto">
          <a:xfrm>
            <a:off x="1790700" y="1714500"/>
            <a:ext cx="2085975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200" b="1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① TCP 上报：厨师/订单/厨具</a:t>
            </a:r>
            <a:endParaRPr/>
          </a:p>
        </p:txBody>
      </p:sp>
      <p:cxnSp>
        <p:nvCxnSpPr>
          <p:cNvPr id="779354374" name="Connector 19"/>
          <p:cNvCxnSpPr/>
          <p:nvPr/>
        </p:nvCxnSpPr>
        <p:spPr bwMode="auto">
          <a:xfrm>
            <a:off x="3952875" y="2362199"/>
            <a:ext cx="2238375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</p:cxnSp>
      <p:sp>
        <p:nvSpPr>
          <p:cNvPr id="14354520" name="TextBox 20"/>
          <p:cNvSpPr txBox="1"/>
          <p:nvPr/>
        </p:nvSpPr>
        <p:spPr bwMode="auto">
          <a:xfrm>
            <a:off x="4029075" y="2152650"/>
            <a:ext cx="2085975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200" b="1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② 写入世界状态（seqlock）</a:t>
            </a:r>
            <a:endParaRPr/>
          </a:p>
        </p:txBody>
      </p:sp>
      <p:cxnSp>
        <p:nvCxnSpPr>
          <p:cNvPr id="340407986" name="Connector 21"/>
          <p:cNvCxnSpPr/>
          <p:nvPr/>
        </p:nvCxnSpPr>
        <p:spPr bwMode="auto">
          <a:xfrm>
            <a:off x="6191250" y="2800350"/>
            <a:ext cx="2238375" cy="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</p:spPr>
      </p:cxnSp>
      <p:sp>
        <p:nvSpPr>
          <p:cNvPr id="566165401" name="TextBox 22"/>
          <p:cNvSpPr txBox="1"/>
          <p:nvPr/>
        </p:nvSpPr>
        <p:spPr bwMode="auto">
          <a:xfrm>
            <a:off x="6267450" y="2590800"/>
            <a:ext cx="2085975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200" b="1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③ 读状态：新订单到达</a:t>
            </a:r>
            <a:endParaRPr/>
          </a:p>
        </p:txBody>
      </p:sp>
      <p:cxnSp>
        <p:nvCxnSpPr>
          <p:cNvPr id="474230773" name="Connector 23"/>
          <p:cNvCxnSpPr/>
          <p:nvPr/>
        </p:nvCxnSpPr>
        <p:spPr bwMode="auto">
          <a:xfrm>
            <a:off x="8429625" y="3238500"/>
            <a:ext cx="2238375" cy="0"/>
          </a:xfrm>
          <a:prstGeom prst="line">
            <a:avLst/>
          </a:prstGeom>
          <a:ln w="22225">
            <a:solidFill>
              <a:srgbClr val="B45309"/>
            </a:solidFill>
            <a:tailEnd type="triangle" w="med" len="med"/>
          </a:ln>
        </p:spPr>
      </p:cxnSp>
      <p:sp>
        <p:nvSpPr>
          <p:cNvPr id="1029192311" name="TextBox 24"/>
          <p:cNvSpPr txBox="1"/>
          <p:nvPr/>
        </p:nvSpPr>
        <p:spPr bwMode="auto">
          <a:xfrm>
            <a:off x="8505825" y="3028950"/>
            <a:ext cx="2085975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200" b="1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④ mq_send：切洋葱</a:t>
            </a:r>
            <a:endParaRPr/>
          </a:p>
        </p:txBody>
      </p:sp>
      <p:sp>
        <p:nvSpPr>
          <p:cNvPr id="264311675" name="Rectangle 25"/>
          <p:cNvSpPr/>
          <p:nvPr/>
        </p:nvSpPr>
        <p:spPr bwMode="auto">
          <a:xfrm>
            <a:off x="10601325" y="3505199"/>
            <a:ext cx="133350" cy="24765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2155765" name="TextBox 26"/>
          <p:cNvSpPr txBox="1"/>
          <p:nvPr/>
        </p:nvSpPr>
        <p:spPr bwMode="auto">
          <a:xfrm>
            <a:off x="8286750" y="3505199"/>
            <a:ext cx="222885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4999"/>
              </a:lnSpc>
              <a:defRPr/>
            </a:pPr>
            <a:r>
              <a:rPr sz="1200" b="1" i="0">
                <a:solidFill>
                  <a:srgbClr val="0891B2"/>
                </a:solidFill>
                <a:latin typeface="Consolas"/>
                <a:ea typeface="Microsoft YaHei"/>
                <a:cs typeface="Consolas"/>
              </a:rPr>
              <a:t>⑤ sem_wait(砧板)</a:t>
            </a:r>
            <a:endParaRPr/>
          </a:p>
        </p:txBody>
      </p:sp>
      <p:cxnSp>
        <p:nvCxnSpPr>
          <p:cNvPr id="63743712" name="Connector 27"/>
          <p:cNvCxnSpPr/>
          <p:nvPr/>
        </p:nvCxnSpPr>
        <p:spPr bwMode="auto">
          <a:xfrm flipH="1">
            <a:off x="6191250" y="4114800"/>
            <a:ext cx="4476750" cy="0"/>
          </a:xfrm>
          <a:prstGeom prst="line">
            <a:avLst/>
          </a:prstGeom>
          <a:ln w="22225">
            <a:solidFill>
              <a:srgbClr val="0891B2"/>
            </a:solidFill>
            <a:tailEnd type="triangle" w="med" len="med"/>
          </a:ln>
        </p:spPr>
      </p:cxnSp>
      <p:sp>
        <p:nvSpPr>
          <p:cNvPr id="2121073400" name="TextBox 28"/>
          <p:cNvSpPr txBox="1"/>
          <p:nvPr/>
        </p:nvSpPr>
        <p:spPr bwMode="auto">
          <a:xfrm>
            <a:off x="6267450" y="3905250"/>
            <a:ext cx="43243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200" b="1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⑥ A* 寻路 → 写输入槽</a:t>
            </a:r>
            <a:endParaRPr/>
          </a:p>
        </p:txBody>
      </p:sp>
      <p:cxnSp>
        <p:nvCxnSpPr>
          <p:cNvPr id="1157204108" name="Connector 29"/>
          <p:cNvCxnSpPr/>
          <p:nvPr/>
        </p:nvCxnSpPr>
        <p:spPr bwMode="auto">
          <a:xfrm flipH="1">
            <a:off x="3952875" y="4552950"/>
            <a:ext cx="2238375" cy="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</p:spPr>
      </p:cxnSp>
      <p:sp>
        <p:nvSpPr>
          <p:cNvPr id="69478014" name="TextBox 30"/>
          <p:cNvSpPr txBox="1"/>
          <p:nvPr/>
        </p:nvSpPr>
        <p:spPr bwMode="auto">
          <a:xfrm>
            <a:off x="4029075" y="4343400"/>
            <a:ext cx="2085975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200" b="1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⑦ 汇总两名厨师输入</a:t>
            </a:r>
            <a:endParaRPr/>
          </a:p>
        </p:txBody>
      </p:sp>
      <p:cxnSp>
        <p:nvCxnSpPr>
          <p:cNvPr id="901637520" name="Connector 31"/>
          <p:cNvCxnSpPr/>
          <p:nvPr/>
        </p:nvCxnSpPr>
        <p:spPr bwMode="auto">
          <a:xfrm flipH="1">
            <a:off x="1714500" y="4991100"/>
            <a:ext cx="2238375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</p:cxnSp>
      <p:sp>
        <p:nvSpPr>
          <p:cNvPr id="183042623" name="TextBox 32"/>
          <p:cNvSpPr txBox="1"/>
          <p:nvPr/>
        </p:nvSpPr>
        <p:spPr bwMode="auto">
          <a:xfrm>
            <a:off x="1790700" y="4781550"/>
            <a:ext cx="2085975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200" b="1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⑧ 下发输入，厨师开切</a:t>
            </a:r>
            <a:endParaRPr/>
          </a:p>
        </p:txBody>
      </p:sp>
      <p:sp>
        <p:nvSpPr>
          <p:cNvPr id="2047076041" name="Rectangle 33"/>
          <p:cNvSpPr/>
          <p:nvPr/>
        </p:nvSpPr>
        <p:spPr bwMode="auto">
          <a:xfrm>
            <a:off x="10601325" y="5257800"/>
            <a:ext cx="133350" cy="24765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64912" name="TextBox 34"/>
          <p:cNvSpPr txBox="1"/>
          <p:nvPr/>
        </p:nvSpPr>
        <p:spPr bwMode="auto">
          <a:xfrm>
            <a:off x="8286750" y="5257800"/>
            <a:ext cx="222885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4999"/>
              </a:lnSpc>
              <a:defRPr/>
            </a:pPr>
            <a:r>
              <a:rPr sz="1200" b="1" i="0">
                <a:solidFill>
                  <a:srgbClr val="0891B2"/>
                </a:solidFill>
                <a:latin typeface="Consolas"/>
                <a:ea typeface="Microsoft YaHei"/>
                <a:cs typeface="Consolas"/>
              </a:rPr>
              <a:t>⑨ sem_post(砧板)</a:t>
            </a:r>
            <a:endParaRPr/>
          </a:p>
        </p:txBody>
      </p:sp>
      <p:cxnSp>
        <p:nvCxnSpPr>
          <p:cNvPr id="277740156" name="Connector 35"/>
          <p:cNvCxnSpPr/>
          <p:nvPr/>
        </p:nvCxnSpPr>
        <p:spPr bwMode="auto">
          <a:xfrm flipH="1">
            <a:off x="8429625" y="5867399"/>
            <a:ext cx="2238375" cy="0"/>
          </a:xfrm>
          <a:prstGeom prst="line">
            <a:avLst/>
          </a:prstGeom>
          <a:ln w="22225">
            <a:solidFill>
              <a:srgbClr val="0891B2"/>
            </a:solidFill>
            <a:tailEnd type="triangle" w="med" len="med"/>
          </a:ln>
        </p:spPr>
      </p:cxnSp>
      <p:sp>
        <p:nvSpPr>
          <p:cNvPr id="268343295" name="TextBox 36"/>
          <p:cNvSpPr txBox="1"/>
          <p:nvPr/>
        </p:nvSpPr>
        <p:spPr bwMode="auto">
          <a:xfrm>
            <a:off x="8505825" y="5657850"/>
            <a:ext cx="2085975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4999"/>
              </a:lnSpc>
              <a:defRPr/>
            </a:pPr>
            <a:r>
              <a:rPr sz="1200" b="1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⑩ mq_send：完成，后继就绪</a:t>
            </a:r>
            <a:endParaRPr/>
          </a:p>
        </p:txBody>
      </p:sp>
      <p:sp>
        <p:nvSpPr>
          <p:cNvPr id="37449415" name="Rounded Rectangle 37"/>
          <p:cNvSpPr/>
          <p:nvPr/>
        </p:nvSpPr>
        <p:spPr bwMode="auto">
          <a:xfrm>
            <a:off x="571500" y="6248400"/>
            <a:ext cx="11049000" cy="266700"/>
          </a:xfrm>
          <a:prstGeom prst="roundRect">
            <a:avLst>
              <a:gd name="adj" fmla="val 21428"/>
            </a:avLst>
          </a:prstGeom>
          <a:solidFill>
            <a:srgbClr val="EFF6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7888680" name="TextBox 38"/>
          <p:cNvSpPr txBox="1"/>
          <p:nvPr/>
        </p:nvSpPr>
        <p:spPr bwMode="auto">
          <a:xfrm>
            <a:off x="723900" y="6248400"/>
            <a:ext cx="1076325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15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循环直到装盘交付；每一次调度决策与资源申请 / 释放都写入 decisions.jsonl 与 events.jsonl，供复盘与监控台使用。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164339" name="Rectangl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119314" name="TextBox 2"/>
          <p:cNvSpPr txBox="1"/>
          <p:nvPr/>
        </p:nvSpPr>
        <p:spPr bwMode="auto">
          <a:xfrm>
            <a:off x="571500" y="323850"/>
            <a:ext cx="6667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09 / 实现路径</a:t>
            </a:r>
            <a:endParaRPr/>
          </a:p>
        </p:txBody>
      </p:sp>
      <p:sp>
        <p:nvSpPr>
          <p:cNvPr id="603366912" name="TextBox 3"/>
          <p:cNvSpPr txBox="1"/>
          <p:nvPr/>
        </p:nvSpPr>
        <p:spPr bwMode="auto">
          <a:xfrm>
            <a:off x="571500" y="514350"/>
            <a:ext cx="11049000" cy="4000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2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站在开源项目的肩膀上：游戏接入怎么落地</a:t>
            </a:r>
            <a:endParaRPr/>
          </a:p>
        </p:txBody>
      </p:sp>
      <p:sp>
        <p:nvSpPr>
          <p:cNvPr id="181869059" name="Rectangle 4"/>
          <p:cNvSpPr/>
          <p:nvPr/>
        </p:nvSpPr>
        <p:spPr bwMode="auto"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3402137" name="TextBox 5"/>
          <p:cNvSpPr txBox="1"/>
          <p:nvPr/>
        </p:nvSpPr>
        <p:spPr bwMode="auto">
          <a:xfrm>
            <a:off x="571500" y="657225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WellCooked · 操作系统原理课程设计</a:t>
            </a:r>
            <a:endParaRPr/>
          </a:p>
        </p:txBody>
      </p:sp>
      <p:sp>
        <p:nvSpPr>
          <p:cNvPr id="1295731658" name="TextBox 6"/>
          <p:cNvSpPr txBox="1"/>
          <p:nvPr/>
        </p:nvSpPr>
        <p:spPr bwMode="auto">
          <a:xfrm>
            <a:off x="10668000" y="6572250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000" b="1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10</a:t>
            </a:r>
            <a:endParaRPr/>
          </a:p>
        </p:txBody>
      </p:sp>
      <p:sp>
        <p:nvSpPr>
          <p:cNvPr id="1950458057" name="Rectangle 7"/>
          <p:cNvSpPr/>
          <p:nvPr/>
        </p:nvSpPr>
        <p:spPr bwMode="auto">
          <a:xfrm>
            <a:off x="571500" y="1181099"/>
            <a:ext cx="6667500" cy="3238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0116380" name="TextBox 8"/>
          <p:cNvSpPr txBox="1"/>
          <p:nvPr/>
        </p:nvSpPr>
        <p:spPr bwMode="auto">
          <a:xfrm>
            <a:off x="723900" y="1181099"/>
            <a:ext cx="238125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参考项目</a:t>
            </a:r>
            <a:endParaRPr/>
          </a:p>
        </p:txBody>
      </p:sp>
      <p:sp>
        <p:nvSpPr>
          <p:cNvPr id="2115304408" name="TextBox 9"/>
          <p:cNvSpPr txBox="1"/>
          <p:nvPr/>
        </p:nvSpPr>
        <p:spPr bwMode="auto">
          <a:xfrm>
            <a:off x="3200400" y="1181099"/>
            <a:ext cx="381000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我们借鉴的部分</a:t>
            </a:r>
            <a:endParaRPr/>
          </a:p>
        </p:txBody>
      </p:sp>
      <p:sp>
        <p:nvSpPr>
          <p:cNvPr id="459136758" name="Rectangle 10"/>
          <p:cNvSpPr/>
          <p:nvPr/>
        </p:nvSpPr>
        <p:spPr bwMode="auto">
          <a:xfrm>
            <a:off x="571500" y="1504950"/>
            <a:ext cx="66675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7509826" name="Rectangle 11"/>
          <p:cNvSpPr/>
          <p:nvPr/>
        </p:nvSpPr>
        <p:spPr bwMode="auto">
          <a:xfrm>
            <a:off x="571500" y="1504950"/>
            <a:ext cx="381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2730125" name="TextBox 12"/>
          <p:cNvSpPr txBox="1"/>
          <p:nvPr/>
        </p:nvSpPr>
        <p:spPr bwMode="auto">
          <a:xfrm>
            <a:off x="723900" y="15811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overcooked-supercharged</a:t>
            </a:r>
            <a:endParaRPr/>
          </a:p>
        </p:txBody>
      </p:sp>
      <p:sp>
        <p:nvSpPr>
          <p:cNvPr id="1478400053" name="TextBox 13"/>
          <p:cNvSpPr txBox="1"/>
          <p:nvPr/>
        </p:nvSpPr>
        <p:spPr bwMode="auto">
          <a:xfrm>
            <a:off x="723900" y="1809750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0" i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hpmv</a:t>
            </a:r>
            <a:endParaRPr/>
          </a:p>
        </p:txBody>
      </p:sp>
      <p:sp>
        <p:nvSpPr>
          <p:cNvPr id="394186819" name="TextBox 14"/>
          <p:cNvSpPr txBox="1"/>
          <p:nvPr/>
        </p:nvSpPr>
        <p:spPr bwMode="auto">
          <a:xfrm>
            <a:off x="3200400" y="1504950"/>
            <a:ext cx="390525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状态序列化、输入注入、帧级控制框架</a:t>
            </a:r>
            <a:endParaRPr/>
          </a:p>
        </p:txBody>
      </p:sp>
      <p:sp>
        <p:nvSpPr>
          <p:cNvPr id="820143153" name="Rectangle 15"/>
          <p:cNvSpPr/>
          <p:nvPr/>
        </p:nvSpPr>
        <p:spPr bwMode="auto">
          <a:xfrm>
            <a:off x="571500" y="2066925"/>
            <a:ext cx="666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7147845" name="Rectangle 16"/>
          <p:cNvSpPr/>
          <p:nvPr/>
        </p:nvSpPr>
        <p:spPr bwMode="auto">
          <a:xfrm>
            <a:off x="571500" y="2076450"/>
            <a:ext cx="6667500" cy="571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6266660" name="Rectangle 17"/>
          <p:cNvSpPr/>
          <p:nvPr/>
        </p:nvSpPr>
        <p:spPr bwMode="auto">
          <a:xfrm>
            <a:off x="571500" y="2076450"/>
            <a:ext cx="38100" cy="571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8201678" name="TextBox 18"/>
          <p:cNvSpPr txBox="1"/>
          <p:nvPr/>
        </p:nvSpPr>
        <p:spPr bwMode="auto">
          <a:xfrm>
            <a:off x="723900" y="21526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D97706"/>
                </a:solidFill>
                <a:latin typeface="Consolas"/>
                <a:ea typeface="Microsoft YaHei"/>
                <a:cs typeface="Consolas"/>
              </a:rPr>
              <a:t>Overcooked2-TAS</a:t>
            </a:r>
            <a:endParaRPr/>
          </a:p>
        </p:txBody>
      </p:sp>
      <p:sp>
        <p:nvSpPr>
          <p:cNvPr id="360877600" name="TextBox 19"/>
          <p:cNvSpPr txBox="1"/>
          <p:nvPr/>
        </p:nvSpPr>
        <p:spPr bwMode="auto">
          <a:xfrm>
            <a:off x="723900" y="2381250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0" i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gua248</a:t>
            </a:r>
            <a:endParaRPr/>
          </a:p>
        </p:txBody>
      </p:sp>
      <p:sp>
        <p:nvSpPr>
          <p:cNvPr id="998450556" name="TextBox 20"/>
          <p:cNvSpPr txBox="1"/>
          <p:nvPr/>
        </p:nvSpPr>
        <p:spPr bwMode="auto">
          <a:xfrm>
            <a:off x="3200400" y="2076450"/>
            <a:ext cx="390525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最多四角色的按帧输入接管、插件结构</a:t>
            </a:r>
            <a:endParaRPr/>
          </a:p>
        </p:txBody>
      </p:sp>
      <p:sp>
        <p:nvSpPr>
          <p:cNvPr id="1774177917" name="Rectangle 21"/>
          <p:cNvSpPr/>
          <p:nvPr/>
        </p:nvSpPr>
        <p:spPr bwMode="auto">
          <a:xfrm>
            <a:off x="571500" y="2638425"/>
            <a:ext cx="666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2402868" name="Rectangle 22"/>
          <p:cNvSpPr/>
          <p:nvPr/>
        </p:nvSpPr>
        <p:spPr bwMode="auto">
          <a:xfrm>
            <a:off x="571500" y="2647949"/>
            <a:ext cx="66675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0128818" name="Rectangle 23"/>
          <p:cNvSpPr/>
          <p:nvPr/>
        </p:nvSpPr>
        <p:spPr bwMode="auto">
          <a:xfrm>
            <a:off x="571500" y="2647949"/>
            <a:ext cx="38100" cy="571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3353990" name="TextBox 24"/>
          <p:cNvSpPr txBox="1"/>
          <p:nvPr/>
        </p:nvSpPr>
        <p:spPr bwMode="auto">
          <a:xfrm>
            <a:off x="723900" y="27241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059669"/>
                </a:solidFill>
                <a:latin typeface="Consolas"/>
                <a:ea typeface="Microsoft YaHei"/>
                <a:cs typeface="Consolas"/>
              </a:rPr>
              <a:t>OvercookedAI</a:t>
            </a:r>
            <a:endParaRPr/>
          </a:p>
        </p:txBody>
      </p:sp>
      <p:sp>
        <p:nvSpPr>
          <p:cNvPr id="744463326" name="TextBox 25"/>
          <p:cNvSpPr txBox="1"/>
          <p:nvPr/>
        </p:nvSpPr>
        <p:spPr bwMode="auto">
          <a:xfrm>
            <a:off x="723900" y="2952750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0" i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Extremelyd1</a:t>
            </a:r>
            <a:endParaRPr/>
          </a:p>
        </p:txBody>
      </p:sp>
      <p:sp>
        <p:nvSpPr>
          <p:cNvPr id="1451647217" name="TextBox 26"/>
          <p:cNvSpPr txBox="1"/>
          <p:nvPr/>
        </p:nvSpPr>
        <p:spPr bwMode="auto">
          <a:xfrm>
            <a:off x="3200400" y="2647949"/>
            <a:ext cx="390525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移动 / 拿放 / 切菜 / 装盘等高层动作分解</a:t>
            </a:r>
            <a:endParaRPr/>
          </a:p>
        </p:txBody>
      </p:sp>
      <p:sp>
        <p:nvSpPr>
          <p:cNvPr id="1440561901" name="Rectangle 27"/>
          <p:cNvSpPr/>
          <p:nvPr/>
        </p:nvSpPr>
        <p:spPr bwMode="auto">
          <a:xfrm>
            <a:off x="571500" y="3209925"/>
            <a:ext cx="666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7464978" name="Rectangle 28"/>
          <p:cNvSpPr/>
          <p:nvPr/>
        </p:nvSpPr>
        <p:spPr bwMode="auto">
          <a:xfrm>
            <a:off x="571500" y="3219449"/>
            <a:ext cx="6667500" cy="571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8502924" name="Rectangle 29"/>
          <p:cNvSpPr/>
          <p:nvPr/>
        </p:nvSpPr>
        <p:spPr bwMode="auto">
          <a:xfrm>
            <a:off x="571500" y="3219449"/>
            <a:ext cx="38100" cy="571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9795550" name="TextBox 30"/>
          <p:cNvSpPr txBox="1"/>
          <p:nvPr/>
        </p:nvSpPr>
        <p:spPr bwMode="auto">
          <a:xfrm>
            <a:off x="723900" y="32956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oc2-modding</a:t>
            </a:r>
            <a:endParaRPr/>
          </a:p>
        </p:txBody>
      </p:sp>
      <p:sp>
        <p:nvSpPr>
          <p:cNvPr id="682963597" name="TextBox 31"/>
          <p:cNvSpPr txBox="1"/>
          <p:nvPr/>
        </p:nvSpPr>
        <p:spPr bwMode="auto">
          <a:xfrm>
            <a:off x="723900" y="3524250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0" i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toasterparty</a:t>
            </a:r>
            <a:endParaRPr/>
          </a:p>
        </p:txBody>
      </p:sp>
      <p:sp>
        <p:nvSpPr>
          <p:cNvPr id="1730084832" name="TextBox 32"/>
          <p:cNvSpPr txBox="1"/>
          <p:nvPr/>
        </p:nvSpPr>
        <p:spPr bwMode="auto">
          <a:xfrm>
            <a:off x="3200400" y="3219449"/>
            <a:ext cx="390525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BepInEx + Harmony 工程与构建方式</a:t>
            </a:r>
            <a:endParaRPr/>
          </a:p>
        </p:txBody>
      </p:sp>
      <p:sp>
        <p:nvSpPr>
          <p:cNvPr id="691379057" name="Rectangle 33"/>
          <p:cNvSpPr/>
          <p:nvPr/>
        </p:nvSpPr>
        <p:spPr bwMode="auto">
          <a:xfrm>
            <a:off x="571500" y="3781425"/>
            <a:ext cx="666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8411260" name="Rectangle 34"/>
          <p:cNvSpPr/>
          <p:nvPr/>
        </p:nvSpPr>
        <p:spPr bwMode="auto">
          <a:xfrm>
            <a:off x="571500" y="3790949"/>
            <a:ext cx="66675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9708086" name="Rectangle 35"/>
          <p:cNvSpPr/>
          <p:nvPr/>
        </p:nvSpPr>
        <p:spPr bwMode="auto">
          <a:xfrm>
            <a:off x="571500" y="3790949"/>
            <a:ext cx="38100" cy="571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5422054" name="TextBox 36"/>
          <p:cNvSpPr txBox="1"/>
          <p:nvPr/>
        </p:nvSpPr>
        <p:spPr bwMode="auto">
          <a:xfrm>
            <a:off x="723900" y="38671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1" i="0">
                <a:solidFill>
                  <a:srgbClr val="0891B2"/>
                </a:solidFill>
                <a:latin typeface="Consolas"/>
                <a:ea typeface="Microsoft YaHei"/>
                <a:cs typeface="Consolas"/>
              </a:rPr>
              <a:t>overcooked_ai</a:t>
            </a:r>
            <a:endParaRPr/>
          </a:p>
        </p:txBody>
      </p:sp>
      <p:sp>
        <p:nvSpPr>
          <p:cNvPr id="1273330798" name="TextBox 37"/>
          <p:cNvSpPr txBox="1"/>
          <p:nvPr/>
        </p:nvSpPr>
        <p:spPr bwMode="auto">
          <a:xfrm>
            <a:off x="723900" y="4095750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0" i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HumanCompatibleAI</a:t>
            </a:r>
            <a:endParaRPr/>
          </a:p>
        </p:txBody>
      </p:sp>
      <p:sp>
        <p:nvSpPr>
          <p:cNvPr id="320115126" name="TextBox 38"/>
          <p:cNvSpPr txBox="1"/>
          <p:nvPr/>
        </p:nvSpPr>
        <p:spPr bwMode="auto">
          <a:xfrm>
            <a:off x="3200400" y="3790949"/>
            <a:ext cx="390525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二维仿真环境，快速验证调度算法</a:t>
            </a:r>
            <a:endParaRPr/>
          </a:p>
        </p:txBody>
      </p:sp>
      <p:sp>
        <p:nvSpPr>
          <p:cNvPr id="134986947" name="Rectangle 39"/>
          <p:cNvSpPr/>
          <p:nvPr/>
        </p:nvSpPr>
        <p:spPr bwMode="auto">
          <a:xfrm>
            <a:off x="571500" y="4352925"/>
            <a:ext cx="666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1658478" name="Rounded Rectangle 40"/>
          <p:cNvSpPr/>
          <p:nvPr/>
        </p:nvSpPr>
        <p:spPr bwMode="auto">
          <a:xfrm>
            <a:off x="571500" y="4514850"/>
            <a:ext cx="6667500" cy="18669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1560064" name="TextBox 41"/>
          <p:cNvSpPr txBox="1"/>
          <p:nvPr/>
        </p:nvSpPr>
        <p:spPr bwMode="auto">
          <a:xfrm>
            <a:off x="762000" y="4648200"/>
            <a:ext cx="6286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5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双实验室部署：同一份 POSIX 代码，两种运行环境</a:t>
            </a:r>
            <a:endParaRPr/>
          </a:p>
        </p:txBody>
      </p:sp>
      <p:sp>
        <p:nvSpPr>
          <p:cNvPr id="1065329439" name="Rounded Rectangle 42"/>
          <p:cNvSpPr/>
          <p:nvPr/>
        </p:nvSpPr>
        <p:spPr bwMode="auto">
          <a:xfrm>
            <a:off x="762000" y="4972050"/>
            <a:ext cx="3028950" cy="1257300"/>
          </a:xfrm>
          <a:prstGeom prst="roundRect">
            <a:avLst>
              <a:gd name="adj" fmla="val 6060"/>
            </a:avLst>
          </a:prstGeom>
          <a:solidFill>
            <a:srgbClr val="EFF6FF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5056297" name="TextBox 43"/>
          <p:cNvSpPr txBox="1"/>
          <p:nvPr/>
        </p:nvSpPr>
        <p:spPr bwMode="auto">
          <a:xfrm>
            <a:off x="914400" y="5086350"/>
            <a:ext cx="2762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5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实验室甲 · Fedora + Proton</a:t>
            </a:r>
            <a:endParaRPr/>
          </a:p>
        </p:txBody>
      </p:sp>
      <p:sp>
        <p:nvSpPr>
          <p:cNvPr id="1993875130" name="TextBox 44"/>
          <p:cNvSpPr txBox="1"/>
          <p:nvPr/>
        </p:nvSpPr>
        <p:spPr bwMode="auto">
          <a:xfrm>
            <a:off x="914400" y="5372100"/>
            <a:ext cx="276225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defRPr/>
            </a:pPr>
            <a:r>
              <a:rPr sz="12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OS 核心跑在 Fedora 原生；游戏经 Proton 运行，插件经 localhost TCP 连 Bridge</a:t>
            </a:r>
            <a:endParaRPr/>
          </a:p>
        </p:txBody>
      </p:sp>
      <p:sp>
        <p:nvSpPr>
          <p:cNvPr id="897644634" name="Rounded Rectangle 45"/>
          <p:cNvSpPr/>
          <p:nvPr/>
        </p:nvSpPr>
        <p:spPr bwMode="auto">
          <a:xfrm>
            <a:off x="3943350" y="4972050"/>
            <a:ext cx="3028950" cy="1257300"/>
          </a:xfrm>
          <a:prstGeom prst="roundRect">
            <a:avLst>
              <a:gd name="adj" fmla="val 6060"/>
            </a:avLst>
          </a:prstGeom>
          <a:solidFill>
            <a:srgbClr val="ECFDF5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8297351" name="TextBox 46"/>
          <p:cNvSpPr txBox="1"/>
          <p:nvPr/>
        </p:nvSpPr>
        <p:spPr bwMode="auto">
          <a:xfrm>
            <a:off x="4095750" y="5086350"/>
            <a:ext cx="2762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50" b="1" i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实验室乙 · WSL2 + Windows</a:t>
            </a:r>
            <a:endParaRPr/>
          </a:p>
        </p:txBody>
      </p:sp>
      <p:sp>
        <p:nvSpPr>
          <p:cNvPr id="828250394" name="TextBox 47"/>
          <p:cNvSpPr txBox="1"/>
          <p:nvPr/>
        </p:nvSpPr>
        <p:spPr bwMode="auto">
          <a:xfrm>
            <a:off x="4095750" y="5372100"/>
            <a:ext cx="276225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defRPr/>
            </a:pPr>
            <a:r>
              <a:rPr sz="120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OS 核心跑在 WSL2；游戏在 Windows 原生运行，TCP 跨越 WSL2 与 Windows</a:t>
            </a:r>
            <a:endParaRPr/>
          </a:p>
        </p:txBody>
      </p:sp>
      <p:sp>
        <p:nvSpPr>
          <p:cNvPr id="341249635" name="TextBox 48"/>
          <p:cNvSpPr txBox="1"/>
          <p:nvPr/>
        </p:nvSpPr>
        <p:spPr bwMode="auto">
          <a:xfrm>
            <a:off x="7524750" y="1181099"/>
            <a:ext cx="40957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游戏接入链路</a:t>
            </a:r>
            <a:endParaRPr/>
          </a:p>
        </p:txBody>
      </p:sp>
      <p:sp>
        <p:nvSpPr>
          <p:cNvPr id="1409767227" name="Rounded Rectangle 49"/>
          <p:cNvSpPr/>
          <p:nvPr/>
        </p:nvSpPr>
        <p:spPr bwMode="auto">
          <a:xfrm>
            <a:off x="7524750" y="1504950"/>
            <a:ext cx="40957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1763028" name="Rectangle 50"/>
          <p:cNvSpPr/>
          <p:nvPr/>
        </p:nvSpPr>
        <p:spPr bwMode="auto">
          <a:xfrm>
            <a:off x="7524750" y="1504950"/>
            <a:ext cx="47625" cy="4762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4451788" name="TextBox 51"/>
          <p:cNvSpPr txBox="1"/>
          <p:nvPr/>
        </p:nvSpPr>
        <p:spPr bwMode="auto">
          <a:xfrm>
            <a:off x="7696200" y="1504950"/>
            <a:ext cx="142875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400" b="1" i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Overcooked! 2</a:t>
            </a:r>
            <a:endParaRPr/>
          </a:p>
        </p:txBody>
      </p:sp>
      <p:sp>
        <p:nvSpPr>
          <p:cNvPr id="1923742397" name="TextBox 52"/>
          <p:cNvSpPr txBox="1"/>
          <p:nvPr/>
        </p:nvSpPr>
        <p:spPr bwMode="auto">
          <a:xfrm>
            <a:off x="9144000" y="1504950"/>
            <a:ext cx="238125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Unity / Mono 游戏本体</a:t>
            </a:r>
            <a:endParaRPr/>
          </a:p>
        </p:txBody>
      </p:sp>
      <p:cxnSp>
        <p:nvCxnSpPr>
          <p:cNvPr id="1544777736" name="Connector 53"/>
          <p:cNvCxnSpPr/>
          <p:nvPr/>
        </p:nvCxnSpPr>
        <p:spPr bwMode="auto">
          <a:xfrm>
            <a:off x="9572625" y="1981200"/>
            <a:ext cx="0" cy="15240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</p:cxnSp>
      <p:sp>
        <p:nvSpPr>
          <p:cNvPr id="473941875" name="Rounded Rectangle 54"/>
          <p:cNvSpPr/>
          <p:nvPr/>
        </p:nvSpPr>
        <p:spPr bwMode="auto">
          <a:xfrm>
            <a:off x="7524750" y="2133600"/>
            <a:ext cx="40957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9936504" name="Rectangle 55"/>
          <p:cNvSpPr/>
          <p:nvPr/>
        </p:nvSpPr>
        <p:spPr bwMode="auto">
          <a:xfrm>
            <a:off x="7524750" y="2133600"/>
            <a:ext cx="47625" cy="4762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1612422" name="TextBox 56"/>
          <p:cNvSpPr txBox="1"/>
          <p:nvPr/>
        </p:nvSpPr>
        <p:spPr bwMode="auto">
          <a:xfrm>
            <a:off x="7696200" y="2133600"/>
            <a:ext cx="142875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400" b="1" i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BepInEx 5</a:t>
            </a:r>
            <a:endParaRPr/>
          </a:p>
        </p:txBody>
      </p:sp>
      <p:sp>
        <p:nvSpPr>
          <p:cNvPr id="1286864627" name="TextBox 57"/>
          <p:cNvSpPr txBox="1"/>
          <p:nvPr/>
        </p:nvSpPr>
        <p:spPr bwMode="auto">
          <a:xfrm>
            <a:off x="9144000" y="2133600"/>
            <a:ext cx="238125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启动时加载我们的插件 DLL</a:t>
            </a:r>
            <a:endParaRPr/>
          </a:p>
        </p:txBody>
      </p:sp>
      <p:cxnSp>
        <p:nvCxnSpPr>
          <p:cNvPr id="979196738" name="Connector 58"/>
          <p:cNvCxnSpPr/>
          <p:nvPr/>
        </p:nvCxnSpPr>
        <p:spPr bwMode="auto">
          <a:xfrm>
            <a:off x="9572625" y="2609850"/>
            <a:ext cx="0" cy="15240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</p:cxnSp>
      <p:sp>
        <p:nvSpPr>
          <p:cNvPr id="1869807478" name="Rounded Rectangle 59"/>
          <p:cNvSpPr/>
          <p:nvPr/>
        </p:nvSpPr>
        <p:spPr bwMode="auto">
          <a:xfrm>
            <a:off x="7524750" y="2762250"/>
            <a:ext cx="40957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9352610" name="Rectangle 60"/>
          <p:cNvSpPr/>
          <p:nvPr/>
        </p:nvSpPr>
        <p:spPr bwMode="auto">
          <a:xfrm>
            <a:off x="7524750" y="2762250"/>
            <a:ext cx="47625" cy="476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0746139" name="TextBox 61"/>
          <p:cNvSpPr txBox="1"/>
          <p:nvPr/>
        </p:nvSpPr>
        <p:spPr bwMode="auto">
          <a:xfrm>
            <a:off x="7696200" y="2762250"/>
            <a:ext cx="142875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400" b="1" i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Harmony 补丁</a:t>
            </a:r>
            <a:endParaRPr/>
          </a:p>
        </p:txBody>
      </p:sp>
      <p:sp>
        <p:nvSpPr>
          <p:cNvPr id="1928019592" name="TextBox 62"/>
          <p:cNvSpPr txBox="1"/>
          <p:nvPr/>
        </p:nvSpPr>
        <p:spPr bwMode="auto">
          <a:xfrm>
            <a:off x="9144000" y="2762250"/>
            <a:ext cx="238125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挂钩游戏方法：读状态、注入输入</a:t>
            </a:r>
            <a:endParaRPr/>
          </a:p>
        </p:txBody>
      </p:sp>
      <p:cxnSp>
        <p:nvCxnSpPr>
          <p:cNvPr id="722236258" name="Connector 63"/>
          <p:cNvCxnSpPr/>
          <p:nvPr/>
        </p:nvCxnSpPr>
        <p:spPr bwMode="auto">
          <a:xfrm>
            <a:off x="9572625" y="3238500"/>
            <a:ext cx="0" cy="15240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</p:cxnSp>
      <p:sp>
        <p:nvSpPr>
          <p:cNvPr id="2015521492" name="Rounded Rectangle 64"/>
          <p:cNvSpPr/>
          <p:nvPr/>
        </p:nvSpPr>
        <p:spPr bwMode="auto">
          <a:xfrm>
            <a:off x="7524750" y="3390900"/>
            <a:ext cx="40957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0122823" name="Rectangle 65"/>
          <p:cNvSpPr/>
          <p:nvPr/>
        </p:nvSpPr>
        <p:spPr bwMode="auto">
          <a:xfrm>
            <a:off x="7524750" y="3390900"/>
            <a:ext cx="47625" cy="4762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4441960" name="TextBox 66"/>
          <p:cNvSpPr txBox="1"/>
          <p:nvPr/>
        </p:nvSpPr>
        <p:spPr bwMode="auto">
          <a:xfrm>
            <a:off x="7696200" y="3390900"/>
            <a:ext cx="142875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4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TCP 客户端</a:t>
            </a:r>
            <a:endParaRPr/>
          </a:p>
        </p:txBody>
      </p:sp>
      <p:sp>
        <p:nvSpPr>
          <p:cNvPr id="1070490798" name="TextBox 67"/>
          <p:cNvSpPr txBox="1"/>
          <p:nvPr/>
        </p:nvSpPr>
        <p:spPr bwMode="auto">
          <a:xfrm>
            <a:off x="9144000" y="3390900"/>
            <a:ext cx="238125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JSON 协议连到 Linux 侧 Bridge</a:t>
            </a:r>
            <a:endParaRPr/>
          </a:p>
        </p:txBody>
      </p:sp>
      <p:sp>
        <p:nvSpPr>
          <p:cNvPr id="407395771" name="Rounded Rectangle 68"/>
          <p:cNvSpPr/>
          <p:nvPr/>
        </p:nvSpPr>
        <p:spPr bwMode="auto">
          <a:xfrm>
            <a:off x="7524750" y="4057650"/>
            <a:ext cx="4095750" cy="2324100"/>
          </a:xfrm>
          <a:prstGeom prst="roundRect">
            <a:avLst>
              <a:gd name="adj" fmla="val 4098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9005744" name="TextBox 69"/>
          <p:cNvSpPr txBox="1"/>
          <p:nvPr/>
        </p:nvSpPr>
        <p:spPr bwMode="auto">
          <a:xfrm>
            <a:off x="7715250" y="4191000"/>
            <a:ext cx="37147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00" b="1" i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通信协议示例（JSON）</a:t>
            </a:r>
            <a:endParaRPr/>
          </a:p>
        </p:txBody>
      </p:sp>
      <p:sp>
        <p:nvSpPr>
          <p:cNvPr id="1311206550" name="TextBox 70"/>
          <p:cNvSpPr txBox="1"/>
          <p:nvPr/>
        </p:nvSpPr>
        <p:spPr bwMode="auto">
          <a:xfrm>
            <a:off x="7715250" y="4457700"/>
            <a:ext cx="3771900" cy="180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defRPr/>
            </a:pPr>
            <a:r>
              <a:rPr sz="1150" b="0" i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// 插件 → Bridge：状态上报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150" b="0" i="0">
                <a:solidFill>
                  <a:srgbClr val="E2E8F0"/>
                </a:solidFill>
                <a:latin typeface="Consolas"/>
                <a:ea typeface="Microsoft YaHei"/>
                <a:cs typeface="Consolas"/>
              </a:rPr>
              <a:t>{"type":"state_update",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150" b="0" i="0">
                <a:solidFill>
                  <a:srgbClr val="E2E8F0"/>
                </a:solidFill>
                <a:latin typeface="Consolas"/>
                <a:ea typeface="Microsoft YaHei"/>
                <a:cs typeface="Consolas"/>
              </a:rPr>
              <a:t> "chefs":[{"id":0,"holding":"onion"}],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150" b="0" i="0">
                <a:solidFill>
                  <a:srgbClr val="E2E8F0"/>
                </a:solidFill>
                <a:latin typeface="Consolas"/>
                <a:ea typeface="Microsoft YaHei"/>
                <a:cs typeface="Consolas"/>
              </a:rPr>
              <a:t> "resources":{"pot_0":"cooking"}}</a:t>
            </a:r>
            <a:endParaRPr/>
          </a:p>
          <a:p>
            <a:pPr algn="l">
              <a:lnSpc>
                <a:spcPct val="130000"/>
              </a:lnSpc>
              <a:defRPr/>
            </a:pPr>
            <a:endParaRPr/>
          </a:p>
          <a:p>
            <a:pPr algn="l">
              <a:lnSpc>
                <a:spcPct val="130000"/>
              </a:lnSpc>
              <a:defRPr/>
            </a:pPr>
            <a:r>
              <a:rPr sz="1150" b="0" i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// Bridge → 插件：控制指令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150" b="0" i="0">
                <a:solidFill>
                  <a:srgbClr val="E2E8F0"/>
                </a:solidFill>
                <a:latin typeface="Consolas"/>
                <a:ea typeface="Microsoft YaHei"/>
                <a:cs typeface="Consolas"/>
              </a:rPr>
              <a:t>{"type":"action","chef_id":1,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150" b="0" i="0">
                <a:solidFill>
                  <a:srgbClr val="E2E8F0"/>
                </a:solidFill>
                <a:latin typeface="Consolas"/>
                <a:ea typeface="Microsoft YaHei"/>
                <a:cs typeface="Consolas"/>
              </a:rPr>
              <a:t> "action":"interact","target":"pot_0"}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54111" name="Rectangl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9875330" name="TextBox 2"/>
          <p:cNvSpPr txBox="1"/>
          <p:nvPr/>
        </p:nvSpPr>
        <p:spPr bwMode="auto">
          <a:xfrm>
            <a:off x="571500" y="323850"/>
            <a:ext cx="6667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10 / 实验与演示</a:t>
            </a:r>
            <a:endParaRPr/>
          </a:p>
        </p:txBody>
      </p:sp>
      <p:sp>
        <p:nvSpPr>
          <p:cNvPr id="277422193" name="TextBox 3"/>
          <p:cNvSpPr txBox="1"/>
          <p:nvPr/>
        </p:nvSpPr>
        <p:spPr bwMode="auto">
          <a:xfrm>
            <a:off x="571500" y="514350"/>
            <a:ext cx="11049000" cy="4000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2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同一输入下比较策略，现场演示调度与故障自愈</a:t>
            </a:r>
            <a:endParaRPr/>
          </a:p>
        </p:txBody>
      </p:sp>
      <p:sp>
        <p:nvSpPr>
          <p:cNvPr id="1007829956" name="Rectangle 4"/>
          <p:cNvSpPr/>
          <p:nvPr/>
        </p:nvSpPr>
        <p:spPr bwMode="auto"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6407506" name="TextBox 5"/>
          <p:cNvSpPr txBox="1"/>
          <p:nvPr/>
        </p:nvSpPr>
        <p:spPr bwMode="auto">
          <a:xfrm>
            <a:off x="571500" y="657225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WellCooked · 操作系统原理课程设计</a:t>
            </a:r>
            <a:endParaRPr/>
          </a:p>
        </p:txBody>
      </p:sp>
      <p:sp>
        <p:nvSpPr>
          <p:cNvPr id="485232694" name="TextBox 6"/>
          <p:cNvSpPr txBox="1"/>
          <p:nvPr/>
        </p:nvSpPr>
        <p:spPr bwMode="auto">
          <a:xfrm>
            <a:off x="10668000" y="6572250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000" b="1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11</a:t>
            </a:r>
            <a:endParaRPr/>
          </a:p>
        </p:txBody>
      </p:sp>
      <p:sp>
        <p:nvSpPr>
          <p:cNvPr id="1146190681" name="Rounded Rectangle 7"/>
          <p:cNvSpPr/>
          <p:nvPr/>
        </p:nvSpPr>
        <p:spPr bwMode="auto">
          <a:xfrm>
            <a:off x="571500" y="1181099"/>
            <a:ext cx="6667500" cy="1676400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6068345" name="TextBox 8"/>
          <p:cNvSpPr txBox="1"/>
          <p:nvPr/>
        </p:nvSpPr>
        <p:spPr bwMode="auto">
          <a:xfrm>
            <a:off x="762000" y="1314450"/>
            <a:ext cx="628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受控对比实验</a:t>
            </a:r>
            <a:endParaRPr/>
          </a:p>
        </p:txBody>
      </p:sp>
      <p:sp>
        <p:nvSpPr>
          <p:cNvPr id="1928164673" name="TextBox 9"/>
          <p:cNvSpPr txBox="1"/>
          <p:nvPr/>
        </p:nvSpPr>
        <p:spPr bwMode="auto">
          <a:xfrm>
            <a:off x="762000" y="1600200"/>
            <a:ext cx="6286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同一地图、同一订单序列、同一动作执行器，只切换调度策略。</a:t>
            </a:r>
            <a:endParaRPr/>
          </a:p>
        </p:txBody>
      </p:sp>
      <p:sp>
        <p:nvSpPr>
          <p:cNvPr id="382122618" name="Rounded Rectangle 10"/>
          <p:cNvSpPr/>
          <p:nvPr/>
        </p:nvSpPr>
        <p:spPr bwMode="auto">
          <a:xfrm>
            <a:off x="762000" y="1924050"/>
            <a:ext cx="819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FCFS</a:t>
            </a:r>
            <a:endParaRPr/>
          </a:p>
        </p:txBody>
      </p:sp>
      <p:sp>
        <p:nvSpPr>
          <p:cNvPr id="1845149121" name="Rounded Rectangle 11"/>
          <p:cNvSpPr/>
          <p:nvPr/>
        </p:nvSpPr>
        <p:spPr bwMode="auto">
          <a:xfrm>
            <a:off x="1676400" y="1924050"/>
            <a:ext cx="819150" cy="2667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SJF</a:t>
            </a:r>
            <a:endParaRPr/>
          </a:p>
        </p:txBody>
      </p:sp>
      <p:sp>
        <p:nvSpPr>
          <p:cNvPr id="1788120798" name="Rounded Rectangle 12"/>
          <p:cNvSpPr/>
          <p:nvPr/>
        </p:nvSpPr>
        <p:spPr bwMode="auto">
          <a:xfrm>
            <a:off x="2590800" y="1924050"/>
            <a:ext cx="819150" cy="2667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EDF</a:t>
            </a:r>
            <a:endParaRPr/>
          </a:p>
        </p:txBody>
      </p:sp>
      <p:sp>
        <p:nvSpPr>
          <p:cNvPr id="35477004" name="Rounded Rectangle 13"/>
          <p:cNvSpPr/>
          <p:nvPr/>
        </p:nvSpPr>
        <p:spPr bwMode="auto">
          <a:xfrm>
            <a:off x="3505199" y="1924050"/>
            <a:ext cx="819150" cy="2667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HRRN</a:t>
            </a:r>
            <a:endParaRPr/>
          </a:p>
        </p:txBody>
      </p:sp>
      <p:sp>
        <p:nvSpPr>
          <p:cNvPr id="651795610" name="Rounded Rectangle 14"/>
          <p:cNvSpPr/>
          <p:nvPr/>
        </p:nvSpPr>
        <p:spPr bwMode="auto">
          <a:xfrm>
            <a:off x="4419600" y="1924050"/>
            <a:ext cx="819150" cy="2667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改进策略</a:t>
            </a:r>
            <a:endParaRPr/>
          </a:p>
        </p:txBody>
      </p:sp>
      <p:sp>
        <p:nvSpPr>
          <p:cNvPr id="1671021028" name="Rounded Rectangle 15"/>
          <p:cNvSpPr/>
          <p:nvPr/>
        </p:nvSpPr>
        <p:spPr bwMode="auto">
          <a:xfrm>
            <a:off x="762000" y="2343150"/>
            <a:ext cx="9525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游戏得分</a:t>
            </a:r>
            <a:endParaRPr/>
          </a:p>
        </p:txBody>
      </p:sp>
      <p:sp>
        <p:nvSpPr>
          <p:cNvPr id="1252379964" name="Rounded Rectangle 16"/>
          <p:cNvSpPr/>
          <p:nvPr/>
        </p:nvSpPr>
        <p:spPr bwMode="auto">
          <a:xfrm>
            <a:off x="1790700" y="2343150"/>
            <a:ext cx="9525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完成订单数</a:t>
            </a:r>
            <a:endParaRPr/>
          </a:p>
        </p:txBody>
      </p:sp>
      <p:sp>
        <p:nvSpPr>
          <p:cNvPr id="1879371616" name="Rounded Rectangle 17"/>
          <p:cNvSpPr/>
          <p:nvPr/>
        </p:nvSpPr>
        <p:spPr bwMode="auto">
          <a:xfrm>
            <a:off x="2819400" y="2343150"/>
            <a:ext cx="9525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超时率</a:t>
            </a:r>
            <a:endParaRPr/>
          </a:p>
        </p:txBody>
      </p:sp>
      <p:sp>
        <p:nvSpPr>
          <p:cNvPr id="1673305285" name="Rounded Rectangle 18"/>
          <p:cNvSpPr/>
          <p:nvPr/>
        </p:nvSpPr>
        <p:spPr bwMode="auto">
          <a:xfrm>
            <a:off x="3848100" y="2343150"/>
            <a:ext cx="9525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平均等待</a:t>
            </a:r>
            <a:endParaRPr/>
          </a:p>
        </p:txBody>
      </p:sp>
      <p:sp>
        <p:nvSpPr>
          <p:cNvPr id="2014351450" name="Rounded Rectangle 19"/>
          <p:cNvSpPr/>
          <p:nvPr/>
        </p:nvSpPr>
        <p:spPr bwMode="auto">
          <a:xfrm>
            <a:off x="4876800" y="2343150"/>
            <a:ext cx="9525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厨师利用率</a:t>
            </a:r>
            <a:endParaRPr/>
          </a:p>
        </p:txBody>
      </p:sp>
      <p:sp>
        <p:nvSpPr>
          <p:cNvPr id="1880939329" name="Rounded Rectangle 20"/>
          <p:cNvSpPr/>
          <p:nvPr/>
        </p:nvSpPr>
        <p:spPr bwMode="auto">
          <a:xfrm>
            <a:off x="5905500" y="2343150"/>
            <a:ext cx="9525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</p:spPr>
        <p:txBody>
          <a:bodyPr wrap="square" lIns="57150" tIns="28575" rIns="57150" bIns="28575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厨具等待</a:t>
            </a:r>
            <a:endParaRPr/>
          </a:p>
        </p:txBody>
      </p:sp>
      <p:sp>
        <p:nvSpPr>
          <p:cNvPr id="1327772949" name="Rounded Rectangle 21"/>
          <p:cNvSpPr/>
          <p:nvPr/>
        </p:nvSpPr>
        <p:spPr bwMode="auto">
          <a:xfrm>
            <a:off x="571500" y="3009900"/>
            <a:ext cx="6667500" cy="3371850"/>
          </a:xfrm>
          <a:prstGeom prst="roundRect">
            <a:avLst>
              <a:gd name="adj" fmla="val 3389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7292680" name="TextBox 22"/>
          <p:cNvSpPr txBox="1"/>
          <p:nvPr/>
        </p:nvSpPr>
        <p:spPr bwMode="auto">
          <a:xfrm>
            <a:off x="781050" y="3143250"/>
            <a:ext cx="42862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WellCooked Monitor · 实时调度监控台</a:t>
            </a:r>
            <a:endParaRPr/>
          </a:p>
        </p:txBody>
      </p:sp>
      <p:sp>
        <p:nvSpPr>
          <p:cNvPr id="1002970848" name="Rounded Rectangle 23"/>
          <p:cNvSpPr/>
          <p:nvPr/>
        </p:nvSpPr>
        <p:spPr bwMode="auto">
          <a:xfrm>
            <a:off x="6019800" y="3143250"/>
            <a:ext cx="1028700" cy="228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wrap="square" lIns="19050" tIns="0" rIns="1905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策略：EDF</a:t>
            </a:r>
            <a:endParaRPr/>
          </a:p>
        </p:txBody>
      </p:sp>
      <p:sp>
        <p:nvSpPr>
          <p:cNvPr id="1799325460" name="Rounded Rectangle 24"/>
          <p:cNvSpPr/>
          <p:nvPr/>
        </p:nvSpPr>
        <p:spPr bwMode="auto">
          <a:xfrm>
            <a:off x="781050" y="3486150"/>
            <a:ext cx="2857500" cy="2724150"/>
          </a:xfrm>
          <a:prstGeom prst="roundRect">
            <a:avLst>
              <a:gd name="adj" fmla="val 2797"/>
            </a:avLst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0869982" name="TextBox 25"/>
          <p:cNvSpPr txBox="1"/>
          <p:nvPr/>
        </p:nvSpPr>
        <p:spPr bwMode="auto">
          <a:xfrm>
            <a:off x="933450" y="3581400"/>
            <a:ext cx="25717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订单队列</a:t>
            </a:r>
            <a:endParaRPr/>
          </a:p>
        </p:txBody>
      </p:sp>
      <p:sp>
        <p:nvSpPr>
          <p:cNvPr id="383816786" name="Rounded Rectangle 26"/>
          <p:cNvSpPr/>
          <p:nvPr/>
        </p:nvSpPr>
        <p:spPr bwMode="auto">
          <a:xfrm>
            <a:off x="933450" y="3867150"/>
            <a:ext cx="2552700" cy="45720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7643357" name="TextBox 27"/>
          <p:cNvSpPr txBox="1"/>
          <p:nvPr/>
        </p:nvSpPr>
        <p:spPr bwMode="auto">
          <a:xfrm>
            <a:off x="1066800" y="3867150"/>
            <a:ext cx="123825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O-01 洋葱汤</a:t>
            </a:r>
            <a:endParaRPr/>
          </a:p>
        </p:txBody>
      </p:sp>
      <p:sp>
        <p:nvSpPr>
          <p:cNvPr id="157897727" name="TextBox 28"/>
          <p:cNvSpPr txBox="1"/>
          <p:nvPr/>
        </p:nvSpPr>
        <p:spPr bwMode="auto">
          <a:xfrm>
            <a:off x="2190750" y="3867150"/>
            <a:ext cx="11810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4999"/>
              </a:lnSpc>
              <a:defRPr/>
            </a:pPr>
            <a:r>
              <a:rPr sz="1100" b="1" i="0">
                <a:solidFill>
                  <a:srgbClr val="34D399"/>
                </a:solidFill>
                <a:latin typeface="Consolas"/>
                <a:ea typeface="Microsoft YaHei"/>
                <a:cs typeface="Consolas"/>
              </a:rPr>
              <a:t>RUNNING</a:t>
            </a:r>
            <a:endParaRPr/>
          </a:p>
        </p:txBody>
      </p:sp>
      <p:sp>
        <p:nvSpPr>
          <p:cNvPr id="1617338490" name="Rounded Rectangle 29"/>
          <p:cNvSpPr/>
          <p:nvPr/>
        </p:nvSpPr>
        <p:spPr bwMode="auto">
          <a:xfrm>
            <a:off x="933450" y="4438650"/>
            <a:ext cx="2552700" cy="45720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7431652" name="TextBox 30"/>
          <p:cNvSpPr txBox="1"/>
          <p:nvPr/>
        </p:nvSpPr>
        <p:spPr bwMode="auto">
          <a:xfrm>
            <a:off x="1066800" y="4438650"/>
            <a:ext cx="123825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O-02 沙拉</a:t>
            </a:r>
            <a:endParaRPr/>
          </a:p>
        </p:txBody>
      </p:sp>
      <p:sp>
        <p:nvSpPr>
          <p:cNvPr id="966324065" name="TextBox 31"/>
          <p:cNvSpPr txBox="1"/>
          <p:nvPr/>
        </p:nvSpPr>
        <p:spPr bwMode="auto">
          <a:xfrm>
            <a:off x="2190750" y="4438650"/>
            <a:ext cx="11810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4999"/>
              </a:lnSpc>
              <a:defRPr/>
            </a:pPr>
            <a:r>
              <a:rPr sz="1100" b="1" i="0">
                <a:solidFill>
                  <a:srgbClr val="60A5FA"/>
                </a:solidFill>
                <a:latin typeface="Consolas"/>
                <a:ea typeface="Microsoft YaHei"/>
                <a:cs typeface="Consolas"/>
              </a:rPr>
              <a:t>READY</a:t>
            </a:r>
            <a:endParaRPr/>
          </a:p>
        </p:txBody>
      </p:sp>
      <p:sp>
        <p:nvSpPr>
          <p:cNvPr id="93062780" name="Rounded Rectangle 32"/>
          <p:cNvSpPr/>
          <p:nvPr/>
        </p:nvSpPr>
        <p:spPr bwMode="auto">
          <a:xfrm>
            <a:off x="933450" y="5010149"/>
            <a:ext cx="2552700" cy="45720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7772399" name="TextBox 33"/>
          <p:cNvSpPr txBox="1"/>
          <p:nvPr/>
        </p:nvSpPr>
        <p:spPr bwMode="auto">
          <a:xfrm>
            <a:off x="1066800" y="5010149"/>
            <a:ext cx="123825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O-03 番茄汤</a:t>
            </a:r>
            <a:endParaRPr/>
          </a:p>
        </p:txBody>
      </p:sp>
      <p:sp>
        <p:nvSpPr>
          <p:cNvPr id="666084295" name="TextBox 34"/>
          <p:cNvSpPr txBox="1"/>
          <p:nvPr/>
        </p:nvSpPr>
        <p:spPr bwMode="auto">
          <a:xfrm>
            <a:off x="2190750" y="5010149"/>
            <a:ext cx="11810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4999"/>
              </a:lnSpc>
              <a:defRPr/>
            </a:pPr>
            <a:r>
              <a:rPr sz="1100" b="1" i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BLOCKED 等锅</a:t>
            </a:r>
            <a:endParaRPr/>
          </a:p>
        </p:txBody>
      </p:sp>
      <p:sp>
        <p:nvSpPr>
          <p:cNvPr id="1349409466" name="Rounded Rectangle 35"/>
          <p:cNvSpPr/>
          <p:nvPr/>
        </p:nvSpPr>
        <p:spPr bwMode="auto">
          <a:xfrm>
            <a:off x="933450" y="5581649"/>
            <a:ext cx="2552700" cy="45720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2497399" name="TextBox 36"/>
          <p:cNvSpPr txBox="1"/>
          <p:nvPr/>
        </p:nvSpPr>
        <p:spPr bwMode="auto">
          <a:xfrm>
            <a:off x="1066800" y="5581649"/>
            <a:ext cx="123825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O-04 沙拉</a:t>
            </a:r>
            <a:endParaRPr/>
          </a:p>
        </p:txBody>
      </p:sp>
      <p:sp>
        <p:nvSpPr>
          <p:cNvPr id="1925563476" name="TextBox 37"/>
          <p:cNvSpPr txBox="1"/>
          <p:nvPr/>
        </p:nvSpPr>
        <p:spPr bwMode="auto">
          <a:xfrm>
            <a:off x="2190750" y="5581649"/>
            <a:ext cx="11810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4999"/>
              </a:lnSpc>
              <a:defRPr/>
            </a:pPr>
            <a:r>
              <a:rPr sz="1100" b="1" i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WAIT</a:t>
            </a:r>
            <a:endParaRPr/>
          </a:p>
        </p:txBody>
      </p:sp>
      <p:sp>
        <p:nvSpPr>
          <p:cNvPr id="1000376357" name="Rounded Rectangle 38"/>
          <p:cNvSpPr/>
          <p:nvPr/>
        </p:nvSpPr>
        <p:spPr bwMode="auto">
          <a:xfrm>
            <a:off x="3771900" y="3486150"/>
            <a:ext cx="3276600" cy="2724150"/>
          </a:xfrm>
          <a:prstGeom prst="roundRect">
            <a:avLst>
              <a:gd name="adj" fmla="val 2797"/>
            </a:avLst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2123755" name="TextBox 39"/>
          <p:cNvSpPr txBox="1"/>
          <p:nvPr/>
        </p:nvSpPr>
        <p:spPr bwMode="auto">
          <a:xfrm>
            <a:off x="3924300" y="3581400"/>
            <a:ext cx="2857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1" i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进程与资源</a:t>
            </a:r>
            <a:endParaRPr/>
          </a:p>
        </p:txBody>
      </p:sp>
      <p:sp>
        <p:nvSpPr>
          <p:cNvPr id="1407501437" name="TextBox 40"/>
          <p:cNvSpPr txBox="1"/>
          <p:nvPr/>
        </p:nvSpPr>
        <p:spPr bwMode="auto">
          <a:xfrm>
            <a:off x="3924300" y="3848100"/>
            <a:ext cx="142875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00" b="0" i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Supervisor</a:t>
            </a:r>
            <a:endParaRPr/>
          </a:p>
        </p:txBody>
      </p:sp>
      <p:sp>
        <p:nvSpPr>
          <p:cNvPr id="967435018" name="TextBox 41"/>
          <p:cNvSpPr txBox="1"/>
          <p:nvPr/>
        </p:nvSpPr>
        <p:spPr bwMode="auto">
          <a:xfrm>
            <a:off x="5524500" y="38481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4999"/>
              </a:lnSpc>
              <a:defRPr/>
            </a:pPr>
            <a:r>
              <a:rPr sz="1200" b="1" i="0">
                <a:solidFill>
                  <a:srgbClr val="34D399"/>
                </a:solidFill>
                <a:latin typeface="Consolas"/>
                <a:ea typeface="Microsoft YaHei"/>
                <a:cs typeface="Consolas"/>
              </a:rPr>
              <a:t>healthy</a:t>
            </a:r>
            <a:endParaRPr/>
          </a:p>
        </p:txBody>
      </p:sp>
      <p:sp>
        <p:nvSpPr>
          <p:cNvPr id="917677891" name="TextBox 42"/>
          <p:cNvSpPr txBox="1"/>
          <p:nvPr/>
        </p:nvSpPr>
        <p:spPr bwMode="auto">
          <a:xfrm>
            <a:off x="3924300" y="4133850"/>
            <a:ext cx="142875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00" b="0" i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Scheduler</a:t>
            </a:r>
            <a:endParaRPr/>
          </a:p>
        </p:txBody>
      </p:sp>
      <p:sp>
        <p:nvSpPr>
          <p:cNvPr id="2048807705" name="TextBox 43"/>
          <p:cNvSpPr txBox="1"/>
          <p:nvPr/>
        </p:nvSpPr>
        <p:spPr bwMode="auto">
          <a:xfrm>
            <a:off x="5524500" y="413385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4999"/>
              </a:lnSpc>
              <a:defRPr/>
            </a:pPr>
            <a:r>
              <a:rPr sz="1200" b="1" i="0">
                <a:solidFill>
                  <a:srgbClr val="34D399"/>
                </a:solidFill>
                <a:latin typeface="Consolas"/>
                <a:ea typeface="Microsoft YaHei"/>
                <a:cs typeface="Consolas"/>
              </a:rPr>
              <a:t>RUNNING</a:t>
            </a:r>
            <a:endParaRPr/>
          </a:p>
        </p:txBody>
      </p:sp>
      <p:sp>
        <p:nvSpPr>
          <p:cNvPr id="830462027" name="TextBox 44"/>
          <p:cNvSpPr txBox="1"/>
          <p:nvPr/>
        </p:nvSpPr>
        <p:spPr bwMode="auto">
          <a:xfrm>
            <a:off x="3924300" y="4419600"/>
            <a:ext cx="142875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00" b="0" i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Worker-0</a:t>
            </a:r>
            <a:endParaRPr/>
          </a:p>
        </p:txBody>
      </p:sp>
      <p:sp>
        <p:nvSpPr>
          <p:cNvPr id="45611036" name="TextBox 45"/>
          <p:cNvSpPr txBox="1"/>
          <p:nvPr/>
        </p:nvSpPr>
        <p:spPr bwMode="auto">
          <a:xfrm>
            <a:off x="5524500" y="44196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4999"/>
              </a:lnSpc>
              <a:defRPr/>
            </a:pPr>
            <a:r>
              <a:rPr sz="1200" b="1" i="0">
                <a:solidFill>
                  <a:srgbClr val="60A5FA"/>
                </a:solidFill>
                <a:latin typeface="Consolas"/>
                <a:ea typeface="Microsoft YaHei"/>
                <a:cs typeface="Consolas"/>
              </a:rPr>
              <a:t>CUTTING</a:t>
            </a:r>
            <a:endParaRPr/>
          </a:p>
        </p:txBody>
      </p:sp>
      <p:sp>
        <p:nvSpPr>
          <p:cNvPr id="1277354933" name="TextBox 46"/>
          <p:cNvSpPr txBox="1"/>
          <p:nvPr/>
        </p:nvSpPr>
        <p:spPr bwMode="auto">
          <a:xfrm>
            <a:off x="3924300" y="4705350"/>
            <a:ext cx="142875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200" b="0" i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Worker-1</a:t>
            </a:r>
            <a:endParaRPr/>
          </a:p>
        </p:txBody>
      </p:sp>
      <p:sp>
        <p:nvSpPr>
          <p:cNvPr id="650881463" name="TextBox 47"/>
          <p:cNvSpPr txBox="1"/>
          <p:nvPr/>
        </p:nvSpPr>
        <p:spPr bwMode="auto">
          <a:xfrm>
            <a:off x="5524500" y="470535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4999"/>
              </a:lnSpc>
              <a:defRPr/>
            </a:pPr>
            <a:r>
              <a:rPr sz="1200" b="1" i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WAIT pot</a:t>
            </a:r>
            <a:endParaRPr/>
          </a:p>
        </p:txBody>
      </p:sp>
      <p:sp>
        <p:nvSpPr>
          <p:cNvPr id="444297119" name="Rectangle 48"/>
          <p:cNvSpPr/>
          <p:nvPr/>
        </p:nvSpPr>
        <p:spPr bwMode="auto">
          <a:xfrm>
            <a:off x="3924300" y="5048250"/>
            <a:ext cx="2971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6032063" name="TextBox 49"/>
          <p:cNvSpPr txBox="1"/>
          <p:nvPr/>
        </p:nvSpPr>
        <p:spPr bwMode="auto">
          <a:xfrm>
            <a:off x="3924300" y="5143500"/>
            <a:ext cx="30099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defRPr/>
            </a:pPr>
            <a:r>
              <a:rPr sz="1050" b="0" i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[DISPATCH] O-01/cut -&gt; W0</a:t>
            </a:r>
            <a:endParaRPr/>
          </a:p>
          <a:p>
            <a:pPr algn="l">
              <a:lnSpc>
                <a:spcPct val="135000"/>
              </a:lnSpc>
              <a:defRPr/>
            </a:pPr>
            <a:r>
              <a:rPr sz="1050" b="0" i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[RESOURCE] pot-0 locked by W1</a:t>
            </a:r>
            <a:endParaRPr/>
          </a:p>
          <a:p>
            <a:pPr algn="l">
              <a:lnSpc>
                <a:spcPct val="135000"/>
              </a:lnSpc>
              <a:defRPr/>
            </a:pPr>
            <a:r>
              <a:rPr sz="1050" b="0" i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[SIGCHLD ] scheduler exited</a:t>
            </a:r>
            <a:endParaRPr/>
          </a:p>
          <a:p>
            <a:pPr algn="l">
              <a:lnSpc>
                <a:spcPct val="135000"/>
              </a:lnSpc>
              <a:defRPr/>
            </a:pPr>
            <a:r>
              <a:rPr sz="1050" b="0" i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[RESTART ] scheduler pid 4121</a:t>
            </a:r>
            <a:endParaRPr/>
          </a:p>
        </p:txBody>
      </p:sp>
      <p:sp>
        <p:nvSpPr>
          <p:cNvPr id="896669621" name="TextBox 50"/>
          <p:cNvSpPr txBox="1"/>
          <p:nvPr/>
        </p:nvSpPr>
        <p:spPr bwMode="auto">
          <a:xfrm>
            <a:off x="7524750" y="1181099"/>
            <a:ext cx="40957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现场演示脚本</a:t>
            </a:r>
            <a:endParaRPr/>
          </a:p>
        </p:txBody>
      </p:sp>
      <p:sp>
        <p:nvSpPr>
          <p:cNvPr id="1325842830" name="Rounded Rectangle 51"/>
          <p:cNvSpPr/>
          <p:nvPr/>
        </p:nvSpPr>
        <p:spPr bwMode="auto">
          <a:xfrm>
            <a:off x="7524750" y="1504950"/>
            <a:ext cx="40957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7425506" name="Oval 52"/>
          <p:cNvSpPr/>
          <p:nvPr/>
        </p:nvSpPr>
        <p:spPr bwMode="auto">
          <a:xfrm>
            <a:off x="7658100" y="1657350"/>
            <a:ext cx="266700" cy="2667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  <a:endParaRPr/>
          </a:p>
        </p:txBody>
      </p:sp>
      <p:sp>
        <p:nvSpPr>
          <p:cNvPr id="651697694" name="TextBox 53"/>
          <p:cNvSpPr txBox="1"/>
          <p:nvPr/>
        </p:nvSpPr>
        <p:spPr bwMode="auto">
          <a:xfrm>
            <a:off x="8039100" y="1657350"/>
            <a:ext cx="1428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5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启动</a:t>
            </a:r>
            <a:endParaRPr/>
          </a:p>
        </p:txBody>
      </p:sp>
      <p:sp>
        <p:nvSpPr>
          <p:cNvPr id="1396775546" name="Rounded Rectangle 54"/>
          <p:cNvSpPr/>
          <p:nvPr/>
        </p:nvSpPr>
        <p:spPr bwMode="auto">
          <a:xfrm>
            <a:off x="9429750" y="1657350"/>
            <a:ext cx="2038349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</p:spPr>
        <p:txBody>
          <a:bodyPr wrap="square" lIns="95250" tIns="0" rIns="57150" bIns="0" rtlCol="0" anchor="ctr"/>
          <a:lstStyle/>
          <a:p>
            <a:pPr algn="l">
              <a:lnSpc>
                <a:spcPct val="110000"/>
              </a:lnSpc>
              <a:defRPr/>
            </a:pPr>
            <a:r>
              <a:rPr sz="1150" b="1" i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./kitchend start</a:t>
            </a:r>
            <a:endParaRPr/>
          </a:p>
        </p:txBody>
      </p:sp>
      <p:sp>
        <p:nvSpPr>
          <p:cNvPr id="2024341717" name="TextBox 55"/>
          <p:cNvSpPr txBox="1"/>
          <p:nvPr/>
        </p:nvSpPr>
        <p:spPr bwMode="auto">
          <a:xfrm>
            <a:off x="8039100" y="2019300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守护进程拉起全部子进程</a:t>
            </a:r>
            <a:endParaRPr/>
          </a:p>
        </p:txBody>
      </p:sp>
      <p:sp>
        <p:nvSpPr>
          <p:cNvPr id="1261079134" name="Rounded Rectangle 56"/>
          <p:cNvSpPr/>
          <p:nvPr/>
        </p:nvSpPr>
        <p:spPr bwMode="auto">
          <a:xfrm>
            <a:off x="7524750" y="2476500"/>
            <a:ext cx="40957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3473412" name="Oval 57"/>
          <p:cNvSpPr/>
          <p:nvPr/>
        </p:nvSpPr>
        <p:spPr bwMode="auto">
          <a:xfrm>
            <a:off x="7658100" y="2628900"/>
            <a:ext cx="266700" cy="2667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  <a:endParaRPr/>
          </a:p>
        </p:txBody>
      </p:sp>
      <p:sp>
        <p:nvSpPr>
          <p:cNvPr id="577523766" name="TextBox 58"/>
          <p:cNvSpPr txBox="1"/>
          <p:nvPr/>
        </p:nvSpPr>
        <p:spPr bwMode="auto">
          <a:xfrm>
            <a:off x="8039100" y="2628900"/>
            <a:ext cx="1428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5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自动出餐</a:t>
            </a:r>
            <a:endParaRPr/>
          </a:p>
        </p:txBody>
      </p:sp>
      <p:sp>
        <p:nvSpPr>
          <p:cNvPr id="347650128" name="Rounded Rectangle 59"/>
          <p:cNvSpPr/>
          <p:nvPr/>
        </p:nvSpPr>
        <p:spPr bwMode="auto">
          <a:xfrm>
            <a:off x="9429750" y="2628900"/>
            <a:ext cx="2038349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</p:spPr>
        <p:txBody>
          <a:bodyPr wrap="square" lIns="95250" tIns="0" rIns="57150" bIns="0" rtlCol="0" anchor="ctr"/>
          <a:lstStyle/>
          <a:p>
            <a:pPr algn="l">
              <a:lnSpc>
                <a:spcPct val="110000"/>
              </a:lnSpc>
              <a:defRPr/>
            </a:pPr>
            <a:r>
              <a:rPr sz="1150" b="1" i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load orders.json</a:t>
            </a:r>
            <a:endParaRPr/>
          </a:p>
        </p:txBody>
      </p:sp>
      <p:sp>
        <p:nvSpPr>
          <p:cNvPr id="182891543" name="TextBox 60"/>
          <p:cNvSpPr txBox="1"/>
          <p:nvPr/>
        </p:nvSpPr>
        <p:spPr bwMode="auto">
          <a:xfrm>
            <a:off x="8039100" y="2990850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两名厨师在游戏中协作完成订单</a:t>
            </a:r>
            <a:endParaRPr/>
          </a:p>
        </p:txBody>
      </p:sp>
      <p:sp>
        <p:nvSpPr>
          <p:cNvPr id="332819713" name="Rounded Rectangle 61"/>
          <p:cNvSpPr/>
          <p:nvPr/>
        </p:nvSpPr>
        <p:spPr bwMode="auto">
          <a:xfrm>
            <a:off x="7524750" y="3448050"/>
            <a:ext cx="40957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7476879" name="Oval 62"/>
          <p:cNvSpPr/>
          <p:nvPr/>
        </p:nvSpPr>
        <p:spPr bwMode="auto">
          <a:xfrm>
            <a:off x="7658100" y="3600450"/>
            <a:ext cx="266700" cy="2667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  <a:endParaRPr/>
          </a:p>
        </p:txBody>
      </p:sp>
      <p:sp>
        <p:nvSpPr>
          <p:cNvPr id="1035308832" name="TextBox 63"/>
          <p:cNvSpPr txBox="1"/>
          <p:nvPr/>
        </p:nvSpPr>
        <p:spPr bwMode="auto">
          <a:xfrm>
            <a:off x="8039100" y="3600450"/>
            <a:ext cx="1428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5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热切换策略</a:t>
            </a:r>
            <a:endParaRPr/>
          </a:p>
        </p:txBody>
      </p:sp>
      <p:sp>
        <p:nvSpPr>
          <p:cNvPr id="299556962" name="Rounded Rectangle 64"/>
          <p:cNvSpPr/>
          <p:nvPr/>
        </p:nvSpPr>
        <p:spPr bwMode="auto">
          <a:xfrm>
            <a:off x="9429750" y="3600450"/>
            <a:ext cx="2038349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</p:spPr>
        <p:txBody>
          <a:bodyPr wrap="square" lIns="95250" tIns="0" rIns="57150" bIns="0" rtlCol="0" anchor="ctr"/>
          <a:lstStyle/>
          <a:p>
            <a:pPr algn="l">
              <a:lnSpc>
                <a:spcPct val="110000"/>
              </a:lnSpc>
              <a:defRPr/>
            </a:pPr>
            <a:r>
              <a:rPr sz="1150" b="1" i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kill -HUP &lt;scheduler&gt;</a:t>
            </a:r>
            <a:endParaRPr/>
          </a:p>
        </p:txBody>
      </p:sp>
      <p:sp>
        <p:nvSpPr>
          <p:cNvPr id="789329579" name="TextBox 65"/>
          <p:cNvSpPr txBox="1"/>
          <p:nvPr/>
        </p:nvSpPr>
        <p:spPr bwMode="auto">
          <a:xfrm>
            <a:off x="8039100" y="3962400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FCFS → EDF，对比监控指标</a:t>
            </a:r>
            <a:endParaRPr/>
          </a:p>
        </p:txBody>
      </p:sp>
      <p:sp>
        <p:nvSpPr>
          <p:cNvPr id="1345943973" name="Rounded Rectangle 66"/>
          <p:cNvSpPr/>
          <p:nvPr/>
        </p:nvSpPr>
        <p:spPr bwMode="auto">
          <a:xfrm>
            <a:off x="7524750" y="4419600"/>
            <a:ext cx="40957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0639554" name="Oval 67"/>
          <p:cNvSpPr/>
          <p:nvPr/>
        </p:nvSpPr>
        <p:spPr bwMode="auto">
          <a:xfrm>
            <a:off x="7658100" y="4572000"/>
            <a:ext cx="266700" cy="2667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  <a:endParaRPr/>
          </a:p>
        </p:txBody>
      </p:sp>
      <p:sp>
        <p:nvSpPr>
          <p:cNvPr id="1656781319" name="TextBox 68"/>
          <p:cNvSpPr txBox="1"/>
          <p:nvPr/>
        </p:nvSpPr>
        <p:spPr bwMode="auto">
          <a:xfrm>
            <a:off x="8039100" y="4572000"/>
            <a:ext cx="1428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5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故障注入</a:t>
            </a:r>
            <a:endParaRPr/>
          </a:p>
        </p:txBody>
      </p:sp>
      <p:sp>
        <p:nvSpPr>
          <p:cNvPr id="854615055" name="Rounded Rectangle 69"/>
          <p:cNvSpPr/>
          <p:nvPr/>
        </p:nvSpPr>
        <p:spPr bwMode="auto">
          <a:xfrm>
            <a:off x="9429750" y="4572000"/>
            <a:ext cx="2038349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</p:spPr>
        <p:txBody>
          <a:bodyPr wrap="square" lIns="95250" tIns="0" rIns="57150" bIns="0" rtlCol="0" anchor="ctr"/>
          <a:lstStyle/>
          <a:p>
            <a:pPr algn="l">
              <a:lnSpc>
                <a:spcPct val="110000"/>
              </a:lnSpc>
              <a:defRPr/>
            </a:pPr>
            <a:r>
              <a:rPr sz="1150" b="1" i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kill -9 &lt;scheduler&gt;</a:t>
            </a:r>
            <a:endParaRPr/>
          </a:p>
        </p:txBody>
      </p:sp>
      <p:sp>
        <p:nvSpPr>
          <p:cNvPr id="246812898" name="TextBox 70"/>
          <p:cNvSpPr txBox="1"/>
          <p:nvPr/>
        </p:nvSpPr>
        <p:spPr bwMode="auto">
          <a:xfrm>
            <a:off x="8039100" y="4933950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SIGCHLD → 自动重启 → 恢复出餐</a:t>
            </a:r>
            <a:endParaRPr/>
          </a:p>
        </p:txBody>
      </p:sp>
      <p:sp>
        <p:nvSpPr>
          <p:cNvPr id="1332865077" name="Rounded Rectangle 71"/>
          <p:cNvSpPr/>
          <p:nvPr/>
        </p:nvSpPr>
        <p:spPr bwMode="auto">
          <a:xfrm>
            <a:off x="7524750" y="5391150"/>
            <a:ext cx="40957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6561888" name="Oval 72"/>
          <p:cNvSpPr/>
          <p:nvPr/>
        </p:nvSpPr>
        <p:spPr bwMode="auto">
          <a:xfrm>
            <a:off x="7658100" y="5543550"/>
            <a:ext cx="266700" cy="266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  <a:endParaRPr/>
          </a:p>
        </p:txBody>
      </p:sp>
      <p:sp>
        <p:nvSpPr>
          <p:cNvPr id="1570117147" name="TextBox 73"/>
          <p:cNvSpPr txBox="1"/>
          <p:nvPr/>
        </p:nvSpPr>
        <p:spPr bwMode="auto">
          <a:xfrm>
            <a:off x="8039100" y="5543550"/>
            <a:ext cx="1428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5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复盘</a:t>
            </a:r>
            <a:endParaRPr/>
          </a:p>
        </p:txBody>
      </p:sp>
      <p:sp>
        <p:nvSpPr>
          <p:cNvPr id="1736609853" name="Rounded Rectangle 74"/>
          <p:cNvSpPr/>
          <p:nvPr/>
        </p:nvSpPr>
        <p:spPr bwMode="auto">
          <a:xfrm>
            <a:off x="9429750" y="5543550"/>
            <a:ext cx="2038349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</p:spPr>
        <p:txBody>
          <a:bodyPr wrap="square" lIns="95250" tIns="0" rIns="57150" bIns="0" rtlCol="0" anchor="ctr"/>
          <a:lstStyle/>
          <a:p>
            <a:pPr algn="l">
              <a:lnSpc>
                <a:spcPct val="110000"/>
              </a:lnSpc>
              <a:defRPr/>
            </a:pPr>
            <a:r>
              <a:rPr sz="1150" b="1" i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runs/*/metrics.json</a:t>
            </a:r>
            <a:endParaRPr/>
          </a:p>
        </p:txBody>
      </p:sp>
      <p:sp>
        <p:nvSpPr>
          <p:cNvPr id="172728437" name="TextBox 75"/>
          <p:cNvSpPr txBox="1"/>
          <p:nvPr/>
        </p:nvSpPr>
        <p:spPr bwMode="auto">
          <a:xfrm>
            <a:off x="8039100" y="5905500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查看日志与各策略实验结果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589774" name="Rectangl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9979273" name="TextBox 2"/>
          <p:cNvSpPr txBox="1"/>
          <p:nvPr/>
        </p:nvSpPr>
        <p:spPr bwMode="auto">
          <a:xfrm>
            <a:off x="571500" y="323850"/>
            <a:ext cx="6667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1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11 / 难点与计划</a:t>
            </a:r>
            <a:endParaRPr/>
          </a:p>
        </p:txBody>
      </p:sp>
      <p:sp>
        <p:nvSpPr>
          <p:cNvPr id="839142598" name="TextBox 3"/>
          <p:cNvSpPr txBox="1"/>
          <p:nvPr/>
        </p:nvSpPr>
        <p:spPr bwMode="auto">
          <a:xfrm>
            <a:off x="571500" y="514350"/>
            <a:ext cx="11049000" cy="4000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2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技术难点、应对方案与后续安排</a:t>
            </a:r>
            <a:endParaRPr/>
          </a:p>
        </p:txBody>
      </p:sp>
      <p:sp>
        <p:nvSpPr>
          <p:cNvPr id="1573691557" name="Rectangle 4"/>
          <p:cNvSpPr/>
          <p:nvPr/>
        </p:nvSpPr>
        <p:spPr bwMode="auto"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4718611" name="TextBox 5"/>
          <p:cNvSpPr txBox="1"/>
          <p:nvPr/>
        </p:nvSpPr>
        <p:spPr bwMode="auto">
          <a:xfrm>
            <a:off x="571500" y="657225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000" b="0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WellCooked · 操作系统原理课程设计</a:t>
            </a:r>
            <a:endParaRPr/>
          </a:p>
        </p:txBody>
      </p:sp>
      <p:sp>
        <p:nvSpPr>
          <p:cNvPr id="1864899495" name="TextBox 6"/>
          <p:cNvSpPr txBox="1"/>
          <p:nvPr/>
        </p:nvSpPr>
        <p:spPr bwMode="auto">
          <a:xfrm>
            <a:off x="10668000" y="6572250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4999"/>
              </a:lnSpc>
              <a:defRPr/>
            </a:pPr>
            <a:r>
              <a:rPr sz="1000" b="1" i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12</a:t>
            </a:r>
            <a:endParaRPr/>
          </a:p>
        </p:txBody>
      </p:sp>
      <p:sp>
        <p:nvSpPr>
          <p:cNvPr id="716517116" name="Rounded Rectangle 7"/>
          <p:cNvSpPr/>
          <p:nvPr/>
        </p:nvSpPr>
        <p:spPr bwMode="auto">
          <a:xfrm>
            <a:off x="571500" y="1181099"/>
            <a:ext cx="7048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7150700" name="Rectangle 8"/>
          <p:cNvSpPr/>
          <p:nvPr/>
        </p:nvSpPr>
        <p:spPr bwMode="auto">
          <a:xfrm>
            <a:off x="571500" y="1181099"/>
            <a:ext cx="57150" cy="952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3599646" name="TextBox 9"/>
          <p:cNvSpPr txBox="1"/>
          <p:nvPr/>
        </p:nvSpPr>
        <p:spPr bwMode="auto">
          <a:xfrm>
            <a:off x="819150" y="1371600"/>
            <a:ext cx="28575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7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游戏接入</a:t>
            </a:r>
            <a:endParaRPr/>
          </a:p>
        </p:txBody>
      </p:sp>
      <p:sp>
        <p:nvSpPr>
          <p:cNvPr id="1967316649" name="TextBox 10"/>
          <p:cNvSpPr txBox="1"/>
          <p:nvPr/>
        </p:nvSpPr>
        <p:spPr bwMode="auto">
          <a:xfrm>
            <a:off x="819150" y="17145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Proton 插件稳定性、多角色输入</a:t>
            </a:r>
            <a:endParaRPr/>
          </a:p>
        </p:txBody>
      </p:sp>
      <p:cxnSp>
        <p:nvCxnSpPr>
          <p:cNvPr id="1087546122" name="Connector 11"/>
          <p:cNvCxnSpPr/>
          <p:nvPr/>
        </p:nvCxnSpPr>
        <p:spPr bwMode="auto">
          <a:xfrm>
            <a:off x="3771900" y="1657350"/>
            <a:ext cx="304800" cy="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</p:cxnSp>
      <p:sp>
        <p:nvSpPr>
          <p:cNvPr id="789139834" name="TextBox 12"/>
          <p:cNvSpPr txBox="1"/>
          <p:nvPr/>
        </p:nvSpPr>
        <p:spPr bwMode="auto">
          <a:xfrm>
            <a:off x="4229100" y="1181099"/>
            <a:ext cx="3238500" cy="952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  <a:defRPr/>
            </a:pPr>
            <a:r>
              <a:rPr sz="1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双实验室并行，互为兜底</a:t>
            </a:r>
            <a:endParaRPr/>
          </a:p>
        </p:txBody>
      </p:sp>
      <p:sp>
        <p:nvSpPr>
          <p:cNvPr id="1915651768" name="Rounded Rectangle 13"/>
          <p:cNvSpPr/>
          <p:nvPr/>
        </p:nvSpPr>
        <p:spPr bwMode="auto">
          <a:xfrm>
            <a:off x="571500" y="2266950"/>
            <a:ext cx="7048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0824507" name="Rectangle 14"/>
          <p:cNvSpPr/>
          <p:nvPr/>
        </p:nvSpPr>
        <p:spPr bwMode="auto">
          <a:xfrm>
            <a:off x="571500" y="2266950"/>
            <a:ext cx="57150" cy="952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4720594" name="TextBox 15"/>
          <p:cNvSpPr txBox="1"/>
          <p:nvPr/>
        </p:nvSpPr>
        <p:spPr bwMode="auto">
          <a:xfrm>
            <a:off x="819150" y="2457450"/>
            <a:ext cx="28575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700" b="1" i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状态一致性</a:t>
            </a:r>
            <a:endParaRPr/>
          </a:p>
        </p:txBody>
      </p:sp>
      <p:sp>
        <p:nvSpPr>
          <p:cNvPr id="1755308905" name="TextBox 16"/>
          <p:cNvSpPr txBox="1"/>
          <p:nvPr/>
        </p:nvSpPr>
        <p:spPr bwMode="auto">
          <a:xfrm>
            <a:off x="819150" y="280035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Bridge 写、多进程读，读到半帧</a:t>
            </a:r>
            <a:endParaRPr/>
          </a:p>
        </p:txBody>
      </p:sp>
      <p:cxnSp>
        <p:nvCxnSpPr>
          <p:cNvPr id="992779993" name="Connector 17"/>
          <p:cNvCxnSpPr/>
          <p:nvPr/>
        </p:nvCxnSpPr>
        <p:spPr bwMode="auto">
          <a:xfrm>
            <a:off x="3771900" y="2743200"/>
            <a:ext cx="304800" cy="0"/>
          </a:xfrm>
          <a:prstGeom prst="line">
            <a:avLst/>
          </a:prstGeom>
          <a:ln w="25400">
            <a:solidFill>
              <a:srgbClr val="059669"/>
            </a:solidFill>
            <a:tailEnd type="triangle" w="med" len="med"/>
          </a:ln>
        </p:spPr>
      </p:cxnSp>
      <p:sp>
        <p:nvSpPr>
          <p:cNvPr id="240495634" name="TextBox 18"/>
          <p:cNvSpPr txBox="1"/>
          <p:nvPr/>
        </p:nvSpPr>
        <p:spPr bwMode="auto">
          <a:xfrm>
            <a:off x="4229100" y="2266950"/>
            <a:ext cx="3238500" cy="952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  <a:defRPr/>
            </a:pPr>
            <a:r>
              <a:rPr sz="1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seqlock 版本号校验 + 每帧屏障同步</a:t>
            </a:r>
            <a:endParaRPr/>
          </a:p>
        </p:txBody>
      </p:sp>
      <p:sp>
        <p:nvSpPr>
          <p:cNvPr id="1029768080" name="Rounded Rectangle 19"/>
          <p:cNvSpPr/>
          <p:nvPr/>
        </p:nvSpPr>
        <p:spPr bwMode="auto">
          <a:xfrm>
            <a:off x="571500" y="3352800"/>
            <a:ext cx="7048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6888869" name="Rectangle 20"/>
          <p:cNvSpPr/>
          <p:nvPr/>
        </p:nvSpPr>
        <p:spPr bwMode="auto">
          <a:xfrm>
            <a:off x="571500" y="3352800"/>
            <a:ext cx="57150" cy="952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4077612" name="TextBox 21"/>
          <p:cNvSpPr txBox="1"/>
          <p:nvPr/>
        </p:nvSpPr>
        <p:spPr bwMode="auto">
          <a:xfrm>
            <a:off x="819150" y="3543300"/>
            <a:ext cx="28575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700" b="1" i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死锁与崩溃</a:t>
            </a:r>
            <a:endParaRPr/>
          </a:p>
        </p:txBody>
      </p:sp>
      <p:sp>
        <p:nvSpPr>
          <p:cNvPr id="1760549200" name="TextBox 22"/>
          <p:cNvSpPr txBox="1"/>
          <p:nvPr/>
        </p:nvSpPr>
        <p:spPr bwMode="auto">
          <a:xfrm>
            <a:off x="819150" y="38862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循环等待厨具、持锁进程被 kill</a:t>
            </a:r>
            <a:endParaRPr/>
          </a:p>
        </p:txBody>
      </p:sp>
      <p:cxnSp>
        <p:nvCxnSpPr>
          <p:cNvPr id="186963189" name="Connector 23"/>
          <p:cNvCxnSpPr/>
          <p:nvPr/>
        </p:nvCxnSpPr>
        <p:spPr bwMode="auto">
          <a:xfrm>
            <a:off x="3771900" y="3829050"/>
            <a:ext cx="304800" cy="0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</p:cxnSp>
      <p:sp>
        <p:nvSpPr>
          <p:cNvPr id="1894273792" name="TextBox 24"/>
          <p:cNvSpPr txBox="1"/>
          <p:nvPr/>
        </p:nvSpPr>
        <p:spPr bwMode="auto">
          <a:xfrm>
            <a:off x="4229100" y="3352800"/>
            <a:ext cx="3238500" cy="952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  <a:defRPr/>
            </a:pPr>
            <a:r>
              <a:rPr sz="1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资源分配图查环回退 + 健壮互斥锁</a:t>
            </a:r>
            <a:endParaRPr/>
          </a:p>
        </p:txBody>
      </p:sp>
      <p:sp>
        <p:nvSpPr>
          <p:cNvPr id="1364215148" name="Rounded Rectangle 25"/>
          <p:cNvSpPr/>
          <p:nvPr/>
        </p:nvSpPr>
        <p:spPr bwMode="auto">
          <a:xfrm>
            <a:off x="571500" y="4438650"/>
            <a:ext cx="7048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4098133" name="Rectangle 26"/>
          <p:cNvSpPr/>
          <p:nvPr/>
        </p:nvSpPr>
        <p:spPr bwMode="auto">
          <a:xfrm>
            <a:off x="571500" y="4438650"/>
            <a:ext cx="57150" cy="952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8528963" name="TextBox 27"/>
          <p:cNvSpPr txBox="1"/>
          <p:nvPr/>
        </p:nvSpPr>
        <p:spPr bwMode="auto">
          <a:xfrm>
            <a:off x="819150" y="4629150"/>
            <a:ext cx="28575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700" b="1" i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故障隔离</a:t>
            </a:r>
            <a:endParaRPr/>
          </a:p>
        </p:txBody>
      </p:sp>
      <p:sp>
        <p:nvSpPr>
          <p:cNvPr id="621187866" name="TextBox 28"/>
          <p:cNvSpPr txBox="1"/>
          <p:nvPr/>
        </p:nvSpPr>
        <p:spPr bwMode="auto">
          <a:xfrm>
            <a:off x="819150" y="497205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单个进程崩溃拖垮整个系统</a:t>
            </a:r>
            <a:endParaRPr/>
          </a:p>
        </p:txBody>
      </p:sp>
      <p:cxnSp>
        <p:nvCxnSpPr>
          <p:cNvPr id="914130507" name="Connector 29"/>
          <p:cNvCxnSpPr/>
          <p:nvPr/>
        </p:nvCxnSpPr>
        <p:spPr bwMode="auto">
          <a:xfrm>
            <a:off x="3771900" y="4914900"/>
            <a:ext cx="30480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</p:cxnSp>
      <p:sp>
        <p:nvSpPr>
          <p:cNvPr id="425191556" name="TextBox 30"/>
          <p:cNvSpPr txBox="1"/>
          <p:nvPr/>
        </p:nvSpPr>
        <p:spPr bwMode="auto">
          <a:xfrm>
            <a:off x="4229100" y="4438650"/>
            <a:ext cx="3238500" cy="952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  <a:defRPr/>
            </a:pPr>
            <a:r>
              <a:rPr sz="1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多进程隔离 + 守护进程退避重启</a:t>
            </a:r>
            <a:endParaRPr/>
          </a:p>
        </p:txBody>
      </p:sp>
      <p:sp>
        <p:nvSpPr>
          <p:cNvPr id="1249683244" name="Rounded Rectangle 31"/>
          <p:cNvSpPr/>
          <p:nvPr/>
        </p:nvSpPr>
        <p:spPr bwMode="auto">
          <a:xfrm>
            <a:off x="7905750" y="1181099"/>
            <a:ext cx="3714750" cy="424815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7543778" name="TextBox 32"/>
          <p:cNvSpPr txBox="1"/>
          <p:nvPr/>
        </p:nvSpPr>
        <p:spPr bwMode="auto">
          <a:xfrm>
            <a:off x="8115300" y="1333500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6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进度安排</a:t>
            </a:r>
            <a:endParaRPr/>
          </a:p>
        </p:txBody>
      </p:sp>
      <p:sp>
        <p:nvSpPr>
          <p:cNvPr id="2029632551" name="Rectangle 33"/>
          <p:cNvSpPr/>
          <p:nvPr/>
        </p:nvSpPr>
        <p:spPr bwMode="auto">
          <a:xfrm>
            <a:off x="8258175" y="1943100"/>
            <a:ext cx="19050" cy="723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4472307" name="Oval 34"/>
          <p:cNvSpPr/>
          <p:nvPr/>
        </p:nvSpPr>
        <p:spPr bwMode="auto">
          <a:xfrm>
            <a:off x="8162925" y="1762125"/>
            <a:ext cx="209550" cy="20955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0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  <a:endParaRPr/>
          </a:p>
        </p:txBody>
      </p:sp>
      <p:sp>
        <p:nvSpPr>
          <p:cNvPr id="40961409" name="TextBox 35"/>
          <p:cNvSpPr txBox="1"/>
          <p:nvPr/>
        </p:nvSpPr>
        <p:spPr bwMode="auto">
          <a:xfrm>
            <a:off x="8496300" y="1752599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第 1–2 周</a:t>
            </a:r>
            <a:endParaRPr/>
          </a:p>
        </p:txBody>
      </p:sp>
      <p:sp>
        <p:nvSpPr>
          <p:cNvPr id="1145219944" name="TextBox 36"/>
          <p:cNvSpPr txBox="1"/>
          <p:nvPr/>
        </p:nvSpPr>
        <p:spPr bwMode="auto">
          <a:xfrm>
            <a:off x="8496300" y="2000250"/>
            <a:ext cx="295275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组队分工、需求分析、概要设计</a:t>
            </a:r>
            <a:endParaRPr/>
          </a:p>
        </p:txBody>
      </p:sp>
      <p:sp>
        <p:nvSpPr>
          <p:cNvPr id="135845654" name="Rectangle 37"/>
          <p:cNvSpPr/>
          <p:nvPr/>
        </p:nvSpPr>
        <p:spPr bwMode="auto">
          <a:xfrm>
            <a:off x="8258175" y="2667000"/>
            <a:ext cx="19050" cy="723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5191277" name="Oval 38"/>
          <p:cNvSpPr/>
          <p:nvPr/>
        </p:nvSpPr>
        <p:spPr bwMode="auto">
          <a:xfrm>
            <a:off x="8162925" y="2486025"/>
            <a:ext cx="209550" cy="2095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0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  <a:endParaRPr/>
          </a:p>
        </p:txBody>
      </p:sp>
      <p:sp>
        <p:nvSpPr>
          <p:cNvPr id="431037979" name="TextBox 39"/>
          <p:cNvSpPr txBox="1"/>
          <p:nvPr/>
        </p:nvSpPr>
        <p:spPr bwMode="auto">
          <a:xfrm>
            <a:off x="8496300" y="24765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40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第 3 周</a:t>
            </a:r>
            <a:endParaRPr/>
          </a:p>
        </p:txBody>
      </p:sp>
      <p:sp>
        <p:nvSpPr>
          <p:cNvPr id="1766572319" name="TextBox 40"/>
          <p:cNvSpPr txBox="1"/>
          <p:nvPr/>
        </p:nvSpPr>
        <p:spPr bwMode="auto">
          <a:xfrm>
            <a:off x="8496300" y="2724150"/>
            <a:ext cx="295275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defRPr/>
            </a:pPr>
            <a:r>
              <a:rPr sz="1250" b="1" i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小组方案汇报（本次）</a:t>
            </a:r>
            <a:endParaRPr/>
          </a:p>
        </p:txBody>
      </p:sp>
      <p:sp>
        <p:nvSpPr>
          <p:cNvPr id="772007114" name="Rectangle 41"/>
          <p:cNvSpPr/>
          <p:nvPr/>
        </p:nvSpPr>
        <p:spPr bwMode="auto">
          <a:xfrm>
            <a:off x="8258175" y="3390900"/>
            <a:ext cx="19050" cy="723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2154539" name="Oval 42"/>
          <p:cNvSpPr/>
          <p:nvPr/>
        </p:nvSpPr>
        <p:spPr bwMode="auto">
          <a:xfrm>
            <a:off x="8162925" y="3209925"/>
            <a:ext cx="209550" cy="20955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0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  <a:endParaRPr/>
          </a:p>
        </p:txBody>
      </p:sp>
      <p:sp>
        <p:nvSpPr>
          <p:cNvPr id="1178316817" name="TextBox 43"/>
          <p:cNvSpPr txBox="1"/>
          <p:nvPr/>
        </p:nvSpPr>
        <p:spPr bwMode="auto">
          <a:xfrm>
            <a:off x="8496300" y="32004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第 4–5 周</a:t>
            </a:r>
            <a:endParaRPr/>
          </a:p>
        </p:txBody>
      </p:sp>
      <p:sp>
        <p:nvSpPr>
          <p:cNvPr id="2107358505" name="TextBox 44"/>
          <p:cNvSpPr txBox="1"/>
          <p:nvPr/>
        </p:nvSpPr>
        <p:spPr bwMode="auto">
          <a:xfrm>
            <a:off x="8496300" y="3448050"/>
            <a:ext cx="295275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集中编码与联调</a:t>
            </a:r>
            <a:endParaRPr/>
          </a:p>
        </p:txBody>
      </p:sp>
      <p:sp>
        <p:nvSpPr>
          <p:cNvPr id="1414889734" name="Rectangle 45"/>
          <p:cNvSpPr/>
          <p:nvPr/>
        </p:nvSpPr>
        <p:spPr bwMode="auto">
          <a:xfrm>
            <a:off x="8258175" y="4114800"/>
            <a:ext cx="19050" cy="723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8619734" name="Oval 46"/>
          <p:cNvSpPr/>
          <p:nvPr/>
        </p:nvSpPr>
        <p:spPr bwMode="auto">
          <a:xfrm>
            <a:off x="8162925" y="3933824"/>
            <a:ext cx="209550" cy="20955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0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  <a:endParaRPr/>
          </a:p>
        </p:txBody>
      </p:sp>
      <p:sp>
        <p:nvSpPr>
          <p:cNvPr id="1931749846" name="TextBox 47"/>
          <p:cNvSpPr txBox="1"/>
          <p:nvPr/>
        </p:nvSpPr>
        <p:spPr bwMode="auto">
          <a:xfrm>
            <a:off x="8496300" y="39243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第 6 周</a:t>
            </a:r>
            <a:endParaRPr/>
          </a:p>
        </p:txBody>
      </p:sp>
      <p:sp>
        <p:nvSpPr>
          <p:cNvPr id="1231411152" name="TextBox 48"/>
          <p:cNvSpPr txBox="1"/>
          <p:nvPr/>
        </p:nvSpPr>
        <p:spPr bwMode="auto">
          <a:xfrm>
            <a:off x="8496300" y="4171950"/>
            <a:ext cx="295275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可运行系统展示与验收</a:t>
            </a:r>
            <a:endParaRPr/>
          </a:p>
        </p:txBody>
      </p:sp>
      <p:sp>
        <p:nvSpPr>
          <p:cNvPr id="976629756" name="Oval 49"/>
          <p:cNvSpPr/>
          <p:nvPr/>
        </p:nvSpPr>
        <p:spPr bwMode="auto">
          <a:xfrm>
            <a:off x="8162925" y="4657725"/>
            <a:ext cx="209550" cy="20955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sz="10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  <a:endParaRPr/>
          </a:p>
        </p:txBody>
      </p:sp>
      <p:sp>
        <p:nvSpPr>
          <p:cNvPr id="1876369826" name="TextBox 50"/>
          <p:cNvSpPr txBox="1"/>
          <p:nvPr/>
        </p:nvSpPr>
        <p:spPr bwMode="auto">
          <a:xfrm>
            <a:off x="8496300" y="46482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  <a:defRPr/>
            </a:pPr>
            <a:r>
              <a:rPr sz="1400" b="1" i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第 7–8 周</a:t>
            </a:r>
            <a:endParaRPr/>
          </a:p>
        </p:txBody>
      </p:sp>
      <p:sp>
        <p:nvSpPr>
          <p:cNvPr id="1716788116" name="TextBox 51"/>
          <p:cNvSpPr txBox="1"/>
          <p:nvPr/>
        </p:nvSpPr>
        <p:spPr bwMode="auto">
          <a:xfrm>
            <a:off x="8496300" y="4895850"/>
            <a:ext cx="295275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defRPr/>
            </a:pPr>
            <a:r>
              <a:rPr sz="1250" b="0" i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个人汇报与答辩</a:t>
            </a:r>
            <a:endParaRPr/>
          </a:p>
        </p:txBody>
      </p:sp>
      <p:sp>
        <p:nvSpPr>
          <p:cNvPr id="957906358" name="Rounded Rectangle 52"/>
          <p:cNvSpPr/>
          <p:nvPr/>
        </p:nvSpPr>
        <p:spPr bwMode="auto">
          <a:xfrm>
            <a:off x="571500" y="5562600"/>
            <a:ext cx="11049000" cy="819150"/>
          </a:xfrm>
          <a:prstGeom prst="roundRect">
            <a:avLst>
              <a:gd name="adj" fmla="val 13953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4414442" name="TextBox 53"/>
          <p:cNvSpPr txBox="1"/>
          <p:nvPr/>
        </p:nvSpPr>
        <p:spPr bwMode="auto">
          <a:xfrm>
            <a:off x="857250" y="5562600"/>
            <a:ext cx="8572500" cy="8191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999"/>
              </a:lnSpc>
              <a:defRPr/>
            </a:pPr>
            <a:r>
              <a:rPr sz="18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用 Linux 的进程、信号、IPC 与同步机制，</a:t>
            </a:r>
            <a:r>
              <a:rPr sz="1800" b="1" i="0">
                <a:solidFill>
                  <a:srgbClr val="FCD34D"/>
                </a:solidFill>
                <a:latin typeface="Arial"/>
                <a:ea typeface="Microsoft YaHei"/>
                <a:cs typeface="Arial"/>
              </a:rPr>
              <a:t>解决多厨师协作出餐的调度问题。</a:t>
            </a:r>
            <a:endParaRPr/>
          </a:p>
        </p:txBody>
      </p:sp>
      <p:sp>
        <p:nvSpPr>
          <p:cNvPr id="2075688067" name="TextBox 54"/>
          <p:cNvSpPr txBox="1"/>
          <p:nvPr/>
        </p:nvSpPr>
        <p:spPr bwMode="auto">
          <a:xfrm>
            <a:off x="9525000" y="5562600"/>
            <a:ext cx="1905000" cy="8191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4999"/>
              </a:lnSpc>
              <a:defRPr/>
            </a:pPr>
            <a:r>
              <a:rPr sz="1600" b="1" i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谢谢 · 欢迎提问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WellCooked：基于《胡闹厨房2》的厨房调度策略设计</dc:title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2026-09-30T06:45:33Z</dcterms:modified>
  <cp:category/>
</cp:coreProperties>
</file>